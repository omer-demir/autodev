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9" r:id="rId4"/>
    <p:sldId id="264" r:id="rId5"/>
    <p:sldId id="268" r:id="rId6"/>
    <p:sldId id="267" r:id="rId7"/>
    <p:sldId id="260" r:id="rId8"/>
    <p:sldId id="263" r:id="rId9"/>
  </p:sldIdLst>
  <p:sldSz cx="15240000" cy="85725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660"/>
  </p:normalViewPr>
  <p:slideViewPr>
    <p:cSldViewPr snapToGrid="0">
      <p:cViewPr varScale="1">
        <p:scale>
          <a:sx n="112" d="100"/>
          <a:sy n="112" d="100"/>
        </p:scale>
        <p:origin x="6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56828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Autodev </a:t>
            </a:r>
            <a:r>
              <a:rPr lang="en-GB"/>
              <a:t>gives teams a control plane for agentic software delivery. Teams can choose their coding agents while retaining policy, isolation and reviewable evidence. The capability baseline is provisional. The next step is a bounded pilot, not a production-readiness claim.</a:t>
            </a:r>
          </a:p>
          <a:p>
            <a:endParaRPr lang="en-GB"/>
          </a:p>
          <a:p>
            <a:r>
              <a:rPr lang="en-GB"/>
              <a:t>Supporting source material</a:t>
            </a:r>
          </a:p>
          <a:p>
            <a:r>
              <a:rPr lang="en-GB"/>
              <a:t>Original slide 1:</a:t>
            </a:r>
          </a:p>
          <a:p>
            <a:r>
              <a:rPr lang="en-GB"/>
              <a:t>Autodev </a:t>
            </a:r>
            <a:r>
              <a:t>is an open, governed control plane for multi-agent software delivery. Replace coding agents, models, skills and execution providers while retaining deterministic policy, isolation, approval, evaluation and evidence. It is not another coding chatbot, IDE, source-control platform or compliance certification.</a:t>
            </a:r>
          </a:p>
          <a:p>
            <a:endParaRPr/>
          </a:p>
          <a:p>
            <a:r>
              <a:t>Source: user-supplied Autodev specification, 8 October 2026. Capability status is provisional and requires validation before a pilot. Implemented denotes described core capabilities, Optional denotes integration/operator choices, and Roadmap denotes future work.</a:t>
            </a:r>
          </a:p>
          <a:p>
            <a:endParaRPr lang="en-GB"/>
          </a:p>
          <a:p>
            <a:r>
              <a:rPr lang="en-GB"/>
              <a:t>Visual: AI-generated conceptual illustration, 9 October 2026. Not a product screenshot, measured result or certification. Image source: image-d61ed5b5dab983c03f30db0a3bef6a02.jpg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product problem is accountable execution. Once agents invoke tools and prepare real repository changes, teams need to know the scope, authority and evidence behind each action. This is a qualitative product thesis, not a market-size or measured-risk claim.</a:t>
            </a:r>
          </a:p>
          <a:p>
            <a:endParaRPr lang="en-GB"/>
          </a:p>
          <a:p>
            <a:r>
              <a:rPr lang="en-GB"/>
              <a:t>Supporting source material</a:t>
            </a:r>
          </a:p>
          <a:p>
            <a:r>
              <a:rPr lang="en-GB"/>
              <a:t>Original slide 2:</a:t>
            </a:r>
          </a:p>
          <a:p>
            <a:r>
              <a:t>Coding agents operate asynchronously, invoke tools and prepare real repository changes. This is a qualitative progression of authority, not a measured risk score. Publication introduces consequences beyond a local working copy</a:t>
            </a:r>
            <a:r>
              <a:rPr lang="en-GB"/>
              <a:t>.</a:t>
            </a:r>
          </a:p>
          <a:p>
            <a:endParaRPr lang="en-GB"/>
          </a:p>
          <a:p>
            <a:r>
              <a:rPr lang="en-GB"/>
              <a:t>Source: user-supplied Autodev specification, 8 October 2026. Capability status is provisional and requires validation before a pilot. Implemented denotes described core capabilities, Optional denotes integration/operator choices, and Roadmap denotes future work.</a:t>
            </a:r>
          </a:p>
          <a:p>
            <a:endParaRPr lang="en-GB"/>
          </a:p>
          <a:p>
            <a:r>
              <a:rPr lang="en-GB"/>
              <a:t>Original slide 3:</a:t>
            </a:r>
          </a:p>
          <a:p>
            <a:r>
              <a:rPr lang="en-GB"/>
              <a:t>The operating gap is accountability across identity, scope, executed controls, irreversible actions and behavioral change. These five questions define the minimum control surface for a pilot</a:t>
            </a:r>
            <a:r>
              <a:t>.</a:t>
            </a:r>
          </a:p>
          <a:p>
            <a:endParaRPr/>
          </a:p>
          <a:p>
            <a:r>
              <a:t>Source: user-supplied Autodev specification, 8 October 2026. Capability status is provisional and requires validation before a pilot. Implemented denotes described core capabilities, Optional denotes integration/operator choices, and Roadmap denotes future work.</a:t>
            </a:r>
          </a:p>
          <a:p>
            <a:endParaRPr lang="en-GB"/>
          </a:p>
          <a:p>
            <a:r>
              <a:rPr lang="en-GB"/>
              <a:t>Visual: AI-generated conceptual illustration, 9 October 2026. Not a product screenshot, measured result or certification. Image source: image-dfa086a9827a1e5390a39ef286f65d19.jpg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Autodev separates execution location, capability authorization and workflow timing. Every typed tool call passes governance. Missing capability means deny, and deny wins. Read-only stages may run concurrently. Writes remain serialized. Humans approve publication boundaries. These described core capabilities require validation before a pilot.</a:t>
            </a:r>
          </a:p>
          <a:p>
            <a:endParaRPr lang="en-GB"/>
          </a:p>
          <a:p>
            <a:r>
              <a:rPr lang="en-GB"/>
              <a:t>Supporting source material</a:t>
            </a:r>
          </a:p>
          <a:p>
            <a:r>
              <a:rPr lang="en-GB"/>
              <a:t>Original slide 4:</a:t>
            </a:r>
          </a:p>
          <a:p>
            <a:r>
              <a:t>Sandbox, governance and workflow are independent controls. Sandbox defines execution location and resource access. Governance authorizes semantic capabilities. Workflow determines whether an authorized capability fits the current phase. Prompts are not a security boundary. Nesting is schematic and does not imply that one boundary replaces the others</a:t>
            </a:r>
            <a:r>
              <a:rPr lang="en-GB"/>
              <a:t>.</a:t>
            </a:r>
          </a:p>
          <a:p>
            <a:endParaRPr lang="en-GB"/>
          </a:p>
          <a:p>
            <a:r>
              <a:rPr lang="en-GB"/>
              <a:t>Source: user-supplied Autodev specification, 8 October 2026. Capability status is provisional and requires validation before a pilot. Implemented denotes described core capabilities, Optional denotes integration/operator choices, and Roadmap denotes future work.</a:t>
            </a:r>
          </a:p>
          <a:p>
            <a:endParaRPr lang="en-GB"/>
          </a:p>
          <a:p>
            <a:r>
              <a:rPr lang="en-GB"/>
              <a:t>Original slide 6:</a:t>
            </a:r>
          </a:p>
          <a:p>
            <a:r>
              <a:rPr lang="en-GB"/>
              <a:t>Connect a repository or start with an empty workspace. Create an isolated worktree and verify agent identity before selecting the workflow and promoted roles. Research, design and plan lead into implementation, tests and security review. Inspect the actual diff and evidence before approving commit, push or pull-request creation. Read-only stages may run concurrently when the workflow allows it. Write-capable work stays serialized. Durable artifacts cross explicit agent handoffs.</a:t>
            </a:r>
          </a:p>
          <a:p>
            <a:endParaRPr lang="en-GB"/>
          </a:p>
          <a:p>
            <a:r>
              <a:rPr lang="en-GB"/>
              <a:t>Source: user-supplied Autodev specification, 8 October 2026. Capability status is provisional and requires validation before a pilot. Implemented denotes described core capabilities, Optional denotes integration/operator choices, and Roadmap denotes future work.</a:t>
            </a:r>
          </a:p>
          <a:p>
            <a:endParaRPr lang="en-GB"/>
          </a:p>
          <a:p>
            <a:r>
              <a:rPr lang="en-GB"/>
              <a:t>Original slide 7:</a:t>
            </a:r>
          </a:p>
          <a:p>
            <a:r>
              <a:rPr lang="en-GB"/>
              <a:t>Resolve the typed tool request to a semantic capability, intersect the agent declaration with local policy, then apply organization, task, environment and workflow context. Missing capability means deny. Imported agents and skills cannot grant themselves authority. Allow only permits sandbox execution. Require approval pauses the action for an authorized human. Denials and approval outcomes also enter the evidence record. Commit, push, pull-request creation and deployment are explicit security-sensitive boundaries</a:t>
            </a:r>
            <a:r>
              <a:t>.</a:t>
            </a:r>
          </a:p>
          <a:p>
            <a:endParaRPr/>
          </a:p>
          <a:p>
            <a:r>
              <a:t>Source: user-supplied Autodev specification, 8 October 2026. Capability status is provisional and requires validation before a pilot. Implemented denotes described core capabilities, Optional denotes integration/operator choices, and Roadmap denotes future work.</a:t>
            </a:r>
          </a:p>
          <a:p>
            <a:endParaRPr lang="en-GB"/>
          </a:p>
          <a:p>
            <a:r>
              <a:rPr lang="en-GB"/>
              <a:t>Visual: AI-generated conceptual illustration, 9 October 2026. Not a product screenshot, measured result or certification. Image source: image-7b646e84127a425f97dc87f286655eb0.jpg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strategic positioning is a stable governance and evidence contract across replaceable components. Agent release uses isolated evaluation and regression comparison tied to a frozen version and dataset. This is the supplied positioning, not a competitor feature audit or a proven moat. External integrations remain optional and provisional.</a:t>
            </a:r>
          </a:p>
          <a:p>
            <a:endParaRPr lang="en-GB"/>
          </a:p>
          <a:p>
            <a:r>
              <a:rPr lang="en-GB"/>
              <a:t>Supporting source material</a:t>
            </a:r>
          </a:p>
          <a:p>
            <a:r>
              <a:rPr lang="en-GB"/>
              <a:t>Original slide 9:</a:t>
            </a:r>
          </a:p>
          <a:p>
            <a:r>
              <a:t>Autodev keeps the policy and evidence contract stable while adapters change. Agents may come from local YAML or imported .agent.md. Skills include native packs, SKILL.md, GitHub and skills.sh. Models include Copilot, Ollama and Foundry. Sandbox options include Docker and Azure dynamic sessions. Governance can combine local policy with the Microsoft Agent Governance Toolkit. Evaluators include native, Vally and Waza. Interfaces include Web, REST, CLI and MCP. External integration availability is optional and provisional</a:t>
            </a:r>
            <a:r>
              <a:rPr lang="en-GB"/>
              <a:t>.</a:t>
            </a:r>
          </a:p>
          <a:p>
            <a:endParaRPr lang="en-GB"/>
          </a:p>
          <a:p>
            <a:r>
              <a:rPr lang="en-GB"/>
              <a:t>Source: user-supplied Autodev specification, 8 October 2026. Capability status is provisional and requires validation before a pilot. Implemented denotes described core capabilities, Optional denotes integration/operator choices, and Roadmap denotes future work.</a:t>
            </a:r>
          </a:p>
          <a:p>
            <a:endParaRPr lang="en-GB"/>
          </a:p>
          <a:p>
            <a:r>
              <a:rPr lang="en-GB"/>
              <a:t>Original slide 8:</a:t>
            </a:r>
          </a:p>
          <a:p>
            <a:r>
              <a:rPr lang="en-GB"/>
              <a:t>Task evidence links identity, policy version, typed tool events, actual Git diff, tests, scanner findings, approvals and telemetry. The promotion pipeline starts with draft agents and static lint, uses human-reviewed scenarios and a frozen dataset hash, then runs isolated evaluation with native and optional Vally and Waza evidence. Compare regressions before promotion. Evaluation runs are isolated from product tasks and sessions.</a:t>
            </a:r>
          </a:p>
          <a:p>
            <a:endParaRPr lang="en-GB"/>
          </a:p>
          <a:p>
            <a:r>
              <a:rPr lang="en-GB"/>
              <a:t>Source: user-supplied Autodev specification, 8 October 2026. Capability status is provisional and requires validation before a pilot. Implemented denotes described core capabilities, Optional denotes integration/operator choices, and Roadmap denotes future work.</a:t>
            </a:r>
          </a:p>
          <a:p>
            <a:endParaRPr lang="en-GB"/>
          </a:p>
          <a:p>
            <a:r>
              <a:rPr lang="en-GB"/>
              <a:t>Original slide 11:</a:t>
            </a:r>
          </a:p>
          <a:p>
            <a:r>
              <a:rPr lang="en-GB"/>
              <a:t>This comparison expresses the supplied positioning, not a product-by-product feature audit. Controls, execution environments and evidence vary by product and configuration. Autodev is complementary to Copilot, Cursor, Devin, OpenHands and GitLab. Do not infer that these products lack controls or that Autodev provides certification</a:t>
            </a:r>
            <a:r>
              <a:t>.</a:t>
            </a:r>
          </a:p>
          <a:p>
            <a:endParaRPr/>
          </a:p>
          <a:p>
            <a:r>
              <a:t>Source: user-supplied Autodev specification, 8 October 2026. Capability status is provisional and requires validation before a pilot. Implemented denotes described core capabilities, Optional denotes integration/operator choices, and Roadmap denotes future work.</a:t>
            </a:r>
          </a:p>
          <a:p>
            <a:endParaRPr lang="en-GB"/>
          </a:p>
          <a:p>
            <a:r>
              <a:rPr lang="en-GB"/>
              <a:t>Visual: AI-generated conceptual illustration, 9 October 2026. Not a product screenshot, measured result or certification. Image source: image-b1a09ebcd5205b66cd324e85186337cc.jpg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supplied specification describes a baseline, not proven production readiness. Validate capabilities before pilot execution. Optional integrations need configuration and verification. All roadmap horizons are future work without committed dates. Authentication hardening, signed evidence, PostgreSQL and high availability must not be implied to exist today. Autodev provides no compliance certification and must not be represented as fully Agent Hypervisor conformant.</a:t>
            </a:r>
          </a:p>
          <a:p>
            <a:endParaRPr lang="en-GB"/>
          </a:p>
          <a:p>
            <a:r>
              <a:rPr lang="en-GB"/>
              <a:t>Supporting source material</a:t>
            </a:r>
          </a:p>
          <a:p>
            <a:r>
              <a:rPr lang="en-GB"/>
              <a:t>Original slide 13:</a:t>
            </a:r>
          </a:p>
          <a:p>
            <a:r>
              <a:t>All three horizons are future work. Now prioritizes operational trust, import review, authentication hardening, signed evidence and evaluation reliability. Next builds team-scale operations, PostgreSQL and HA, fine-grained authorization and a managed sandbox broker. Then adds an adapter SDK, continuous evaluation, compliance exports and fleet SRE. These are direction-setting priorities, not committed delivery dates. Ask the audience to pilot one bounded engineering workflow</a:t>
            </a:r>
            <a:r>
              <a:rPr lang="en-GB"/>
              <a:t>.</a:t>
            </a:r>
          </a:p>
          <a:p>
            <a:endParaRPr lang="en-GB"/>
          </a:p>
          <a:p>
            <a:r>
              <a:rPr lang="en-GB"/>
              <a:t>Source: user-supplied Autodev specification, 8 October 2026. Capability status is provisional and requires validation before a pilot. Implemented denotes described core capabilities, Optional denotes integration/operator choices, and Roadmap denotes future work.</a:t>
            </a:r>
          </a:p>
          <a:p>
            <a:endParaRPr lang="en-GB"/>
          </a:p>
          <a:p>
            <a:r>
              <a:rPr lang="en-GB"/>
              <a:t>Original slide 16:</a:t>
            </a:r>
          </a:p>
          <a:p>
            <a:r>
              <a:rPr lang="en-GB"/>
              <a:t>Optional appendix C. Autodev is an engineering workbench, not a compliance certification. Do not represent it as fully Agent Hypervisor conformant. Implemented labels in this deck describe the supplied baseline and remain provisional. Optional integrations require configuration and verification. Roadmap items are future work. Signed evidence, auth hardening and other roadmap controls must not be implied to exist today. No regulatory compliance or production readiness claim follows from this deck.</a:t>
            </a:r>
          </a:p>
          <a:p>
            <a:endParaRPr lang="en-GB"/>
          </a:p>
          <a:p>
            <a:r>
              <a:rPr lang="en-GB"/>
              <a:t>Source: user-supplied Autodev specification, 8 October 2026. Capability status is provisional and requires validation before a pilot. Implemented denotes described core capabilities, Optional denotes integration/operator choices, and Roadmap denotes future work.</a:t>
            </a:r>
          </a:p>
          <a:p>
            <a:endParaRPr lang="en-GB"/>
          </a:p>
          <a:p>
            <a:r>
              <a:rPr lang="en-GB"/>
              <a:t>Original slide 10:</a:t>
            </a:r>
          </a:p>
          <a:p>
            <a:r>
              <a:rPr lang="en-GB"/>
              <a:t>The local configuration combines Next.js and FastAPI with SQLite, file evidence and a Docker worktree sandbox. The cloud deployment pattern includes OIDC, organization RBAC, containerized API and workers, PostgreSQL, Redis Streams, Blob storage, Azure Container Apps dynamic sessions, Key Vault, workload identity and ACR. Observability may use OpenTelemetry, Prometheus, Tempo and Grafana locally, with Azure Monitor and capacity alerts in cloud. Operator configuration and external infrastructure are optional. Team-scale PostgreSQL and HA hardening remain roadmap work, not a claim of production readiness</a:t>
            </a:r>
            <a:r>
              <a:t>.</a:t>
            </a:r>
          </a:p>
          <a:p>
            <a:endParaRPr/>
          </a:p>
          <a:p>
            <a:r>
              <a:t>Source: user-supplied Autodev specification, 8 October 2026. Capability status is provisional and requires validation before a pilot. Implemented denotes described core capabilities, Optional denotes integration/operator choices, and Roadmap denotes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proposed next step is a four-week pilot around one repetitive, testable workflow. In week one, choose the task and set baselines and decision thresholds. In week two, encode the agent, skills, policy and frozen evaluation suite. In week three, run isolated tasks with publication approval. In week four, review the evidence and decide whether to expand. Track accepted changes per week, review minutes per accepted change, test and security pass rates, rework, policy denials, approval latency and cost per accepted change. No benchmark or improvement is assumed.</a:t>
            </a:r>
          </a:p>
          <a:p>
            <a:endParaRPr lang="en-GB"/>
          </a:p>
          <a:p>
            <a:r>
              <a:rPr lang="en-GB"/>
              <a:t>Supporting source material</a:t>
            </a:r>
          </a:p>
          <a:p>
            <a:r>
              <a:rPr lang="en-GB"/>
              <a:t>Original slide 12:</a:t>
            </a:r>
          </a:p>
          <a:p>
            <a:r>
              <a:t>Proposed four-week pilot: select one repetitive, testable task class in week one. Encode the agent, skills, policy and frozen evaluation suite in week two. Run in isolation with publication approval in week three. Review evidence and decide whether to expand in week four. Candidate tasks are dependency updates, framework migrations, test generation, documentation maintenance and security remediation. Set pilot-specific baselines and thresholds before execution. No benchmark or performance improvement is asserted.</a:t>
            </a:r>
          </a:p>
          <a:p>
            <a:endParaRPr/>
          </a:p>
          <a:p>
            <a:r>
              <a:t>Source: user-supplied Autodev specification, 8 October 2026. Capability status is provisional and requires validation before a pilot. Implemented denotes described core capabilities, Optional denotes integration/operator choices, and Roadmap denotes future work.</a:t>
            </a:r>
          </a:p>
          <a:p>
            <a:endParaRPr lang="en-GB"/>
          </a:p>
          <a:p>
            <a:r>
              <a:rPr lang="en-GB"/>
              <a:t>Visual: AI-generated conceptual illustration, 9 October 2026. Not a product screenshot, measured result or certification. Image source: image-e3e7ba10e7500c22dbef619cba9ed236.jpg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Technical backup. The FastAPI control API and Next.js workbench coordinate workflow and execution services. The workflow controller owns phase transitions. Typed tool calls pass governance before sandbox execution. Publication approval is a separate boundary. Optional model, execution and observability integrations require configuration and verification. Team-scale database and high-availability hardening remain roadmap work.</a:t>
            </a:r>
          </a:p>
          <a:p>
            <a:endParaRPr lang="en-GB"/>
          </a:p>
          <a:p>
            <a:r>
              <a:rPr lang="en-GB"/>
              <a:t>Supporting source material</a:t>
            </a:r>
          </a:p>
          <a:p>
            <a:r>
              <a:rPr lang="en-GB"/>
              <a:t>Original slide 5:</a:t>
            </a:r>
          </a:p>
          <a:p>
            <a:r>
              <a:t>The workflow controller owns phase transitions, never the model. Clients reach the FastAPI control API through identity and organization RBAC. Registry and execution services coordinate agents and jobs. Every typed tool call reaches the governance and policy engine before execution. The approval service gates publication separately. Providers and observability backends are optional configured integrations</a:t>
            </a:r>
            <a:r>
              <a:rPr lang="en-US"/>
              <a:t>.</a:t>
            </a:r>
          </a:p>
          <a:p>
            <a:endParaRPr lang="en-US"/>
          </a:p>
          <a:p>
            <a:r>
              <a:rPr lang="en-US"/>
              <a:t>Source: user-supplied Autodev specification, 8 October 2026. Capability status is provisional and requires validation before a pilot. Implemented denotes described core capabilities, Optional denotes integration/operator choices, and Roadmap denotes future work.</a:t>
            </a:r>
          </a:p>
          <a:p>
            <a:endParaRPr lang="en-US"/>
          </a:p>
          <a:p>
            <a:r>
              <a:rPr lang="en-US"/>
              <a:t>Original slide 10:</a:t>
            </a:r>
          </a:p>
          <a:p>
            <a:r>
              <a:rPr lang="en-US"/>
              <a:t>The local configuration combines Next.js and FastAPI with SQLite, file evidence and a Docker worktree sandbox. The cloud deployment pattern includes OIDC, organization RBAC, containerized API and workers, PostgreSQL, Redis Streams, Blob storage, Azure Container Apps dynamic sessions, Key Vault, workload identity and ACR. Observability may use OpenTelemetry, Prometheus, Tempo and Grafana locally, with Azure Monitor and capacity alerts in cloud. Operator configuration and external infrastructure are optional. Team-scale PostgreSQL and HA hardening remain roadmap work, not a claim of production readiness</a:t>
            </a:r>
            <a:r>
              <a:t>.</a:t>
            </a:r>
          </a:p>
          <a:p>
            <a:endParaRPr/>
          </a:p>
          <a:p>
            <a:r>
              <a:t>Source: user-supplied Autodev specification, 8 October 2026. Capability status is provisional and requires validation before a pilot. Implemented denotes described core capabilities, Optional denotes integration/operator choices, and Roadmap denotes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Technical backup. Task evidence links identity, policy, typed tool events, actual diffs, tests, scanner output and approvals. Promotion requires the evaluated agent version, suite, dataset and frozen hash to match. Native evidence can combine with optional Vally and Waza evaluators. Evaluation records stay separate from product tasks and sessions. Validate all described capabilities before a pilot.</a:t>
            </a:r>
          </a:p>
          <a:p>
            <a:endParaRPr lang="en-GB"/>
          </a:p>
          <a:p>
            <a:r>
              <a:rPr lang="en-GB"/>
              <a:t>Supporting source material</a:t>
            </a:r>
          </a:p>
          <a:p>
            <a:r>
              <a:rPr lang="en-GB"/>
              <a:t>Original slide 8:</a:t>
            </a:r>
          </a:p>
          <a:p>
            <a:r>
              <a:t>Task evidence links identity, policy version, typed tool events, actual Git diff, tests, scanner findings, approvals and telemetry. The promotion pipeline starts with draft agents and static lint, uses human-reviewed scenarios and a frozen dataset hash, then runs isolated evaluation with native and optional Vally and Waza evidence. Compare regressions before promotion. Evaluation runs are isolated</a:t>
            </a:r>
            <a:r>
              <a:rPr lang="en-GB"/>
              <a:t> from product tasks and sessions.</a:t>
            </a:r>
          </a:p>
          <a:p>
            <a:endParaRPr lang="en-GB"/>
          </a:p>
          <a:p>
            <a:r>
              <a:rPr lang="en-GB"/>
              <a:t>Source: user-supplied Autodev specification, 8 October 2026. Capability status is provisional and requires validation before a pilot. Implemented denotes described core capabilities, Optional denotes integration/operator choices, and Roadmap denotes future work.</a:t>
            </a:r>
          </a:p>
          <a:p>
            <a:endParaRPr lang="en-GB"/>
          </a:p>
          <a:p>
            <a:r>
              <a:rPr lang="en-GB"/>
              <a:t>Original slide 14:</a:t>
            </a:r>
          </a:p>
          <a:p>
            <a:r>
              <a:rPr lang="en-GB"/>
              <a:t>Optional appendix A. Conceptual system-design view of the supplied architecture. The task is the durable unit of intent. A session carries agent and workflow context. Execution jobs pass governance and execute in a sandbox. Events record lifecycle and typed-tool results, artifacts capture diffs, tests and scanner output, and approvals capture human decisions. Evaluation records stay in a separate namespace</a:t>
            </a:r>
            <a:r>
              <a:t> from product tasks and sessions.</a:t>
            </a:r>
          </a:p>
          <a:p>
            <a:endParaRPr/>
          </a:p>
          <a:p>
            <a:r>
              <a:t>Source: user-supplied Autodev specification, 8 October 2026. Capability status is provisional and requires validation before a pilot. Implemented denotes described core capabilities, Optional denotes integration/operator choices, and Roadmap denotes future work.</a:t>
            </a:r>
          </a:p>
          <a:p>
            <a:endParaRPr lang="en-GB"/>
          </a:p>
          <a:p>
            <a:r>
              <a:rPr lang="en-GB"/>
              <a:t>Visual: AI-generated conceptual illustration, 9 October 2026. Not a product screenshot, measured result or certification. Image source: image-9565e5b1792b28ad635fdfbdaa9d0b44.jpg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1577034"/>
      </p:ext>
    </p:extLst>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202A2B"/>
        </a:solidFill>
        <a:effectLst/>
      </p:bgPr>
    </p:bg>
    <p:spTree>
      <p:nvGrpSpPr>
        <p:cNvPr id="1" name=""/>
        <p:cNvGrpSpPr/>
        <p:nvPr/>
      </p:nvGrpSpPr>
      <p:grpSpPr>
        <a:xfrm>
          <a:off x="0" y="0"/>
          <a:ext cx="0" cy="0"/>
          <a:chOff x="0" y="0"/>
          <a:chExt cx="0" cy="0"/>
        </a:xfrm>
      </p:grpSpPr>
      <p:pic>
        <p:nvPicPr>
          <p:cNvPr id="168" name="Picture 167" descr="Concept illustration of governed software delivery"/>
          <p:cNvPicPr>
            <a:picLocks noChangeAspect="1"/>
          </p:cNvPicPr>
          <p:nvPr/>
        </p:nvPicPr>
        <p:blipFill>
          <a:blip r:embed="rId3"/>
          <a:srcRect/>
          <a:stretch>
            <a:fillRect/>
          </a:stretch>
        </p:blipFill>
        <p:spPr>
          <a:xfrm>
            <a:off x="7863840" y="822960"/>
            <a:ext cx="6995160" cy="6995160"/>
          </a:xfrm>
          <a:prstGeom prst="rect">
            <a:avLst/>
          </a:prstGeom>
        </p:spPr>
      </p:pic>
      <p:sp>
        <p:nvSpPr>
          <p:cNvPr id="145" name="Rectangle 144">
            <a:extLst>
              <a:ext uri="{FF2B5EF4-FFF2-40B4-BE49-F238E27FC236}">
                <a16:creationId xmlns:a16="http://schemas.microsoft.com/office/drawing/2014/main" id="{43ADA46E-FC43-4697-BB6F-DE4CF30D5FEC}"/>
              </a:ext>
            </a:extLst>
          </p:cNvPr>
          <p:cNvSpPr>
            <a:spLocks noGrp="1"/>
          </p:cNvSpPr>
          <p:nvPr/>
        </p:nvSpPr>
        <p:spPr>
          <a:xfrm>
            <a:off x="731520" y="438912"/>
            <a:ext cx="11887200" cy="320040"/>
          </a:xfrm>
          <a:prstGeom prst="rect">
            <a:avLst/>
          </a:prstGeom>
          <a:noFill/>
          <a:ln w="0">
            <a:noFill/>
          </a:ln>
        </p:spPr>
        <p:txBody>
          <a:bodyPr wrap="square" lIns="0" tIns="0" rIns="0" bIns="0" anchor="t"/>
          <a:lstStyle/>
          <a:p>
            <a:pPr algn="l">
              <a:lnSpc>
                <a:spcPct val="114000"/>
              </a:lnSpc>
              <a:spcBef>
                <a:spcPts val="0"/>
              </a:spcBef>
              <a:spcAft>
                <a:spcPts val="0"/>
              </a:spcAft>
              <a:buNone/>
              <a:defRPr sz="1275" b="0">
                <a:solidFill>
                  <a:srgbClr val="5EEAD4"/>
                </a:solidFill>
                <a:latin typeface="DejaVu Sans Mono"/>
                <a:ea typeface="DejaVu Sans Mono"/>
                <a:cs typeface="DejaVu Sans Mono"/>
              </a:defRPr>
            </a:pPr>
            <a:r>
              <a:rPr lang="en-US" sz="1300" b="1">
                <a:solidFill>
                  <a:srgbClr val="B8C4BF"/>
                </a:solidFill>
                <a:latin typeface="DejaVu Sans"/>
              </a:rPr>
              <a:t>AUTODEV</a:t>
            </a:r>
          </a:p>
        </p:txBody>
      </p:sp>
      <p:sp>
        <p:nvSpPr>
          <p:cNvPr id="149" name="Rectangle 148">
            <a:extLst>
              <a:ext uri="{FF2B5EF4-FFF2-40B4-BE49-F238E27FC236}">
                <a16:creationId xmlns:a16="http://schemas.microsoft.com/office/drawing/2014/main" id="{BBF627AE-A4A5-4902-8859-0607F222F7F0}"/>
              </a:ext>
            </a:extLst>
          </p:cNvPr>
          <p:cNvSpPr>
            <a:spLocks noGrp="1"/>
          </p:cNvSpPr>
          <p:nvPr/>
        </p:nvSpPr>
        <p:spPr>
          <a:xfrm>
            <a:off x="731520" y="7863840"/>
            <a:ext cx="12618720" cy="365760"/>
          </a:xfrm>
          <a:prstGeom prst="rect">
            <a:avLst/>
          </a:prstGeom>
          <a:noFill/>
          <a:ln w="0">
            <a:noFill/>
          </a:ln>
        </p:spPr>
        <p:txBody>
          <a:bodyPr wrap="square" lIns="0" tIns="0" rIns="0" bIns="0" anchor="t"/>
          <a:lstStyle/>
          <a:p>
            <a:pPr algn="l">
              <a:lnSpc>
                <a:spcPct val="114000"/>
              </a:lnSpc>
              <a:spcBef>
                <a:spcPts val="0"/>
              </a:spcBef>
              <a:spcAft>
                <a:spcPts val="0"/>
              </a:spcAft>
              <a:buNone/>
              <a:defRPr sz="1050" b="0">
                <a:solidFill>
                  <a:srgbClr val="8491A7"/>
                </a:solidFill>
                <a:latin typeface="DejaVu Sans Mono"/>
                <a:ea typeface="DejaVu Sans Mono"/>
                <a:cs typeface="DejaVu Sans Mono"/>
              </a:defRPr>
            </a:pPr>
            <a:r>
              <a:rPr lang="en-GB" sz="1300" b="0">
                <a:solidFill>
                  <a:srgbClr val="B8C4BF"/>
                </a:solidFill>
                <a:latin typeface="DejaVu Sans"/>
              </a:rPr>
              <a:t>Capability baseline is provisional. Validate before a pilot.</a:t>
            </a:r>
          </a:p>
        </p:txBody>
      </p:sp>
      <p:sp>
        <p:nvSpPr>
          <p:cNvPr id="150" name="Rectangle 149">
            <a:extLst>
              <a:ext uri="{FF2B5EF4-FFF2-40B4-BE49-F238E27FC236}">
                <a16:creationId xmlns:a16="http://schemas.microsoft.com/office/drawing/2014/main" id="{3E71A363-71BD-40DC-8011-D83620BC9B73}"/>
              </a:ext>
            </a:extLst>
          </p:cNvPr>
          <p:cNvSpPr>
            <a:spLocks noGrp="1"/>
          </p:cNvSpPr>
          <p:nvPr/>
        </p:nvSpPr>
        <p:spPr>
          <a:xfrm>
            <a:off x="13807440" y="7936992"/>
            <a:ext cx="640080" cy="292608"/>
          </a:xfrm>
          <a:prstGeom prst="rect">
            <a:avLst/>
          </a:prstGeom>
          <a:noFill/>
          <a:ln w="0">
            <a:noFill/>
          </a:ln>
        </p:spPr>
        <p:txBody>
          <a:bodyPr wrap="square" lIns="0" tIns="0" rIns="0" bIns="0" anchor="t"/>
          <a:lstStyle/>
          <a:p>
            <a:pPr algn="l">
              <a:lnSpc>
                <a:spcPct val="114000"/>
              </a:lnSpc>
              <a:spcBef>
                <a:spcPts val="0"/>
              </a:spcBef>
              <a:spcAft>
                <a:spcPts val="0"/>
              </a:spcAft>
              <a:buNone/>
              <a:defRPr sz="1200" b="0">
                <a:solidFill>
                  <a:srgbClr val="8491A7"/>
                </a:solidFill>
                <a:latin typeface="DejaVu Sans Mono"/>
                <a:ea typeface="DejaVu Sans Mono"/>
                <a:cs typeface="DejaVu Sans Mono"/>
              </a:defRPr>
            </a:pPr>
            <a:r>
              <a:rPr lang="en-NL" sz="1200" b="0">
                <a:solidFill>
                  <a:srgbClr val="B8C4BF"/>
                </a:solidFill>
                <a:latin typeface="DejaVu Sans"/>
              </a:rPr>
              <a:t>01</a:t>
            </a:r>
          </a:p>
        </p:txBody>
      </p:sp>
      <p:sp>
        <p:nvSpPr>
          <p:cNvPr id="151" name="Rectangle 150">
            <a:extLst>
              <a:ext uri="{FF2B5EF4-FFF2-40B4-BE49-F238E27FC236}">
                <a16:creationId xmlns:a16="http://schemas.microsoft.com/office/drawing/2014/main" id="{27C7F47B-44D1-47E2-9A0F-9E6ABF0A25FE}"/>
              </a:ext>
            </a:extLst>
          </p:cNvPr>
          <p:cNvSpPr>
            <a:spLocks noGrp="1"/>
          </p:cNvSpPr>
          <p:nvPr/>
        </p:nvSpPr>
        <p:spPr>
          <a:xfrm>
            <a:off x="731520" y="2971800"/>
            <a:ext cx="6720840" cy="2148840"/>
          </a:xfrm>
          <a:prstGeom prst="rect">
            <a:avLst/>
          </a:prstGeom>
          <a:noFill/>
          <a:ln w="0">
            <a:noFill/>
          </a:ln>
        </p:spPr>
        <p:txBody>
          <a:bodyPr wrap="square" lIns="0" tIns="0" rIns="0" bIns="0" anchor="t"/>
          <a:lstStyle/>
          <a:p>
            <a:pPr algn="l">
              <a:lnSpc>
                <a:spcPct val="114000"/>
              </a:lnSpc>
              <a:spcBef>
                <a:spcPts val="0"/>
              </a:spcBef>
              <a:spcAft>
                <a:spcPts val="0"/>
              </a:spcAft>
              <a:buNone/>
              <a:defRPr sz="4200" b="0">
                <a:solidFill>
                  <a:srgbClr val="E8EDF5"/>
                </a:solidFill>
                <a:latin typeface="DejaVu Sans"/>
                <a:ea typeface="DejaVu Sans"/>
                <a:cs typeface="DejaVu Sans"/>
              </a:defRPr>
            </a:pPr>
            <a:r>
              <a:rPr lang="en-GB" sz="4000" b="0">
                <a:solidFill>
                  <a:srgbClr val="F7F5EF"/>
                </a:solidFill>
                <a:latin typeface="DejaVu Sans"/>
              </a:rPr>
              <a:t>Control for agentic</a:t>
            </a:r>
          </a:p>
          <a:p>
            <a:pPr>
              <a:lnSpc>
                <a:spcPct val="114000"/>
              </a:lnSpc>
            </a:pPr>
            <a:r>
              <a:rPr lang="en-GB" sz="4000" b="0">
                <a:solidFill>
                  <a:srgbClr val="F7F5EF"/>
                </a:solidFill>
                <a:latin typeface="DejaVu Sans"/>
              </a:rPr>
              <a:t>software delivery</a:t>
            </a:r>
          </a:p>
        </p:txBody>
      </p:sp>
      <p:sp>
        <p:nvSpPr>
          <p:cNvPr id="152" name="Rectangle 151">
            <a:extLst>
              <a:ext uri="{FF2B5EF4-FFF2-40B4-BE49-F238E27FC236}">
                <a16:creationId xmlns:a16="http://schemas.microsoft.com/office/drawing/2014/main" id="{845588D4-1A08-4819-BE81-DE34A6A2EE57}"/>
              </a:ext>
            </a:extLst>
          </p:cNvPr>
          <p:cNvSpPr>
            <a:spLocks noGrp="1"/>
          </p:cNvSpPr>
          <p:nvPr/>
        </p:nvSpPr>
        <p:spPr>
          <a:xfrm>
            <a:off x="731520" y="5532120"/>
            <a:ext cx="6583680" cy="1508760"/>
          </a:xfrm>
          <a:prstGeom prst="rect">
            <a:avLst/>
          </a:prstGeom>
          <a:noFill/>
          <a:ln w="0">
            <a:noFill/>
          </a:ln>
        </p:spPr>
        <p:txBody>
          <a:bodyPr wrap="square" lIns="0" tIns="0" rIns="0" bIns="0" anchor="t"/>
          <a:lstStyle/>
          <a:p>
            <a:pPr algn="l">
              <a:lnSpc>
                <a:spcPct val="114000"/>
              </a:lnSpc>
              <a:spcBef>
                <a:spcPts val="0"/>
              </a:spcBef>
              <a:spcAft>
                <a:spcPts val="0"/>
              </a:spcAft>
              <a:buNone/>
              <a:defRPr sz="1500" b="0">
                <a:solidFill>
                  <a:srgbClr val="8491A7"/>
                </a:solidFill>
                <a:latin typeface="DejaVu Sans Mono"/>
                <a:ea typeface="DejaVu Sans Mono"/>
                <a:cs typeface="DejaVu Sans Mono"/>
              </a:defRPr>
            </a:pPr>
            <a:r>
              <a:rPr lang="en-GB" sz="2400" b="0">
                <a:solidFill>
                  <a:srgbClr val="B8C4BF"/>
                </a:solidFill>
                <a:latin typeface="DejaVu Sans"/>
              </a:rPr>
              <a:t>An open control plane that governs</a:t>
            </a:r>
          </a:p>
          <a:p>
            <a:pPr>
              <a:lnSpc>
                <a:spcPct val="114000"/>
              </a:lnSpc>
            </a:pPr>
            <a:r>
              <a:rPr lang="en-GB" sz="2400" b="0">
                <a:solidFill>
                  <a:srgbClr val="B8C4BF"/>
                </a:solidFill>
                <a:latin typeface="DejaVu Sans"/>
              </a:rPr>
              <a:t>coding agents and keeps their</a:t>
            </a:r>
          </a:p>
          <a:p>
            <a:pPr>
              <a:lnSpc>
                <a:spcPct val="114000"/>
              </a:lnSpc>
            </a:pPr>
            <a:r>
              <a:rPr lang="en-GB" sz="2400" b="0">
                <a:solidFill>
                  <a:srgbClr val="B8C4BF"/>
                </a:solidFill>
                <a:latin typeface="DejaVu Sans"/>
              </a:rPr>
              <a:t>changes reviewable.</a:t>
            </a:r>
          </a:p>
        </p:txBody>
      </p:sp>
      <p:sp>
        <p:nvSpPr>
          <p:cNvPr id="167" name="Rectangle 166">
            <a:extLst>
              <a:ext uri="{FF2B5EF4-FFF2-40B4-BE49-F238E27FC236}">
                <a16:creationId xmlns:a16="http://schemas.microsoft.com/office/drawing/2014/main" id="{E7F1C483-270B-46C9-A7EF-9C36955DFC29}"/>
              </a:ext>
            </a:extLst>
          </p:cNvPr>
          <p:cNvSpPr>
            <a:spLocks noGrp="1"/>
          </p:cNvSpPr>
          <p:nvPr/>
        </p:nvSpPr>
        <p:spPr>
          <a:xfrm>
            <a:off x="731520" y="1600200"/>
            <a:ext cx="6675120" cy="1143000"/>
          </a:xfrm>
          <a:prstGeom prst="rect">
            <a:avLst/>
          </a:prstGeom>
          <a:noFill/>
          <a:ln w="0">
            <a:noFill/>
          </a:ln>
        </p:spPr>
        <p:txBody>
          <a:bodyPr wrap="square" lIns="0" tIns="0" rIns="0" bIns="0" anchor="t"/>
          <a:lstStyle/>
          <a:p>
            <a:pPr algn="l">
              <a:lnSpc>
                <a:spcPct val="114000"/>
              </a:lnSpc>
              <a:spcBef>
                <a:spcPts val="0"/>
              </a:spcBef>
              <a:spcAft>
                <a:spcPts val="0"/>
              </a:spcAft>
              <a:buNone/>
              <a:defRPr sz="7200" b="1">
                <a:solidFill>
                  <a:srgbClr val="E8EDF5"/>
                </a:solidFill>
                <a:latin typeface="DejaVu Sans"/>
                <a:ea typeface="DejaVu Sans"/>
                <a:cs typeface="DejaVu Sans"/>
              </a:defRPr>
            </a:pPr>
            <a:r>
              <a:rPr lang="en-US" sz="6400" b="1">
                <a:solidFill>
                  <a:srgbClr val="F7F5EF"/>
                </a:solidFill>
                <a:latin typeface="DejaVu Sans"/>
              </a:rPr>
              <a:t>Autodev</a:t>
            </a:r>
          </a:p>
        </p:txBody>
      </p:sp>
    </p:spTree>
    <p:extLst>
      <p:ext uri="{BB962C8B-B14F-4D97-AF65-F5344CB8AC3E}">
        <p14:creationId xmlns:p14="http://schemas.microsoft.com/office/powerpoint/2010/main" val="13532310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7F5EF"/>
        </a:solidFill>
        <a:effectLst/>
      </p:bgPr>
    </p:bg>
    <p:spTree>
      <p:nvGrpSpPr>
        <p:cNvPr id="1" name=""/>
        <p:cNvGrpSpPr/>
        <p:nvPr/>
      </p:nvGrpSpPr>
      <p:grpSpPr>
        <a:xfrm>
          <a:off x="0" y="0"/>
          <a:ext cx="0" cy="0"/>
          <a:chOff x="0" y="0"/>
          <a:chExt cx="0" cy="0"/>
        </a:xfrm>
      </p:grpSpPr>
      <p:pic>
        <p:nvPicPr>
          <p:cNvPr id="179" name="Picture 178" descr="Concept illustration of the accountability gap"/>
          <p:cNvPicPr>
            <a:picLocks noChangeAspect="1"/>
          </p:cNvPicPr>
          <p:nvPr/>
        </p:nvPicPr>
        <p:blipFill>
          <a:blip r:embed="rId3"/>
          <a:srcRect/>
          <a:stretch>
            <a:fillRect/>
          </a:stretch>
        </p:blipFill>
        <p:spPr>
          <a:xfrm>
            <a:off x="731520" y="3182112"/>
            <a:ext cx="6766560" cy="4154209"/>
          </a:xfrm>
          <a:prstGeom prst="rect">
            <a:avLst/>
          </a:prstGeom>
        </p:spPr>
      </p:pic>
      <p:sp>
        <p:nvSpPr>
          <p:cNvPr id="145" name="Rectangle 144">
            <a:extLst>
              <a:ext uri="{FF2B5EF4-FFF2-40B4-BE49-F238E27FC236}">
                <a16:creationId xmlns:a16="http://schemas.microsoft.com/office/drawing/2014/main" id="{B680CB14-FF54-44EC-BB8F-BCB781B57CCA}"/>
              </a:ext>
            </a:extLst>
          </p:cNvPr>
          <p:cNvSpPr>
            <a:spLocks noGrp="1"/>
          </p:cNvSpPr>
          <p:nvPr/>
        </p:nvSpPr>
        <p:spPr>
          <a:xfrm>
            <a:off x="731520" y="438912"/>
            <a:ext cx="11887200" cy="320040"/>
          </a:xfrm>
          <a:prstGeom prst="rect">
            <a:avLst/>
          </a:prstGeom>
          <a:noFill/>
          <a:ln w="0">
            <a:noFill/>
          </a:ln>
        </p:spPr>
        <p:txBody>
          <a:bodyPr wrap="square" lIns="0" tIns="0" rIns="0" bIns="0" anchor="t"/>
          <a:lstStyle/>
          <a:p>
            <a:pPr algn="l">
              <a:lnSpc>
                <a:spcPct val="114000"/>
              </a:lnSpc>
              <a:spcBef>
                <a:spcPts val="0"/>
              </a:spcBef>
              <a:spcAft>
                <a:spcPts val="0"/>
              </a:spcAft>
              <a:buNone/>
              <a:defRPr sz="1275" b="0">
                <a:solidFill>
                  <a:srgbClr val="5EEAD4"/>
                </a:solidFill>
                <a:latin typeface="DejaVu Sans Mono"/>
                <a:ea typeface="DejaVu Sans Mono"/>
                <a:cs typeface="DejaVu Sans Mono"/>
              </a:defRPr>
            </a:pPr>
            <a:r>
              <a:rPr lang="en-US" sz="1300" b="1">
                <a:solidFill>
                  <a:srgbClr val="276C63"/>
                </a:solidFill>
                <a:latin typeface="DejaVu Sans"/>
              </a:rPr>
              <a:t>AUTODEV</a:t>
            </a:r>
          </a:p>
        </p:txBody>
      </p:sp>
      <p:sp>
        <p:nvSpPr>
          <p:cNvPr id="146" name="Rectangle 145">
            <a:extLst>
              <a:ext uri="{FF2B5EF4-FFF2-40B4-BE49-F238E27FC236}">
                <a16:creationId xmlns:a16="http://schemas.microsoft.com/office/drawing/2014/main" id="{56215F35-BDB6-4B29-9DE7-53E56428778D}"/>
              </a:ext>
            </a:extLst>
          </p:cNvPr>
          <p:cNvSpPr>
            <a:spLocks noGrp="1"/>
          </p:cNvSpPr>
          <p:nvPr/>
        </p:nvSpPr>
        <p:spPr>
          <a:xfrm>
            <a:off x="731520" y="1051560"/>
            <a:ext cx="13716000" cy="1417320"/>
          </a:xfrm>
          <a:prstGeom prst="rect">
            <a:avLst/>
          </a:prstGeom>
          <a:noFill/>
          <a:ln w="0">
            <a:noFill/>
          </a:ln>
        </p:spPr>
        <p:txBody>
          <a:bodyPr wrap="square" lIns="0" tIns="0" rIns="0" bIns="0" anchor="t"/>
          <a:lstStyle/>
          <a:p>
            <a:pPr algn="l">
              <a:lnSpc>
                <a:spcPct val="114000"/>
              </a:lnSpc>
              <a:spcBef>
                <a:spcPts val="0"/>
              </a:spcBef>
              <a:spcAft>
                <a:spcPts val="0"/>
              </a:spcAft>
              <a:buNone/>
              <a:defRPr sz="3600" b="1">
                <a:solidFill>
                  <a:srgbClr val="E8EDF5"/>
                </a:solidFill>
                <a:latin typeface="DejaVu Sans"/>
                <a:ea typeface="DejaVu Sans"/>
                <a:cs typeface="DejaVu Sans"/>
              </a:defRPr>
            </a:pPr>
            <a:r>
              <a:rPr lang="en-GB" sz="4000" b="1">
                <a:solidFill>
                  <a:srgbClr val="202A2B"/>
                </a:solidFill>
                <a:latin typeface="DejaVu Sans"/>
              </a:rPr>
              <a:t>Agent autonomy creates</a:t>
            </a:r>
          </a:p>
          <a:p>
            <a:pPr algn="l">
              <a:lnSpc>
                <a:spcPct val="114000"/>
              </a:lnSpc>
              <a:spcBef>
                <a:spcPts val="0"/>
              </a:spcBef>
              <a:spcAft>
                <a:spcPts val="0"/>
              </a:spcAft>
              <a:buNone/>
            </a:pPr>
            <a:r>
              <a:rPr lang="en-GB" sz="4000" b="1">
                <a:solidFill>
                  <a:srgbClr val="202A2B"/>
                </a:solidFill>
                <a:latin typeface="DejaVu Sans"/>
              </a:rPr>
              <a:t>an accountability gap</a:t>
            </a:r>
          </a:p>
        </p:txBody>
      </p:sp>
      <p:sp>
        <p:nvSpPr>
          <p:cNvPr id="150" name="Rectangle 149">
            <a:extLst>
              <a:ext uri="{FF2B5EF4-FFF2-40B4-BE49-F238E27FC236}">
                <a16:creationId xmlns:a16="http://schemas.microsoft.com/office/drawing/2014/main" id="{102BC59F-5032-4F78-B9E6-91807103E1B8}"/>
              </a:ext>
            </a:extLst>
          </p:cNvPr>
          <p:cNvSpPr>
            <a:spLocks noGrp="1"/>
          </p:cNvSpPr>
          <p:nvPr/>
        </p:nvSpPr>
        <p:spPr>
          <a:xfrm>
            <a:off x="13807440" y="7936992"/>
            <a:ext cx="640080" cy="292608"/>
          </a:xfrm>
          <a:prstGeom prst="rect">
            <a:avLst/>
          </a:prstGeom>
          <a:noFill/>
          <a:ln w="0">
            <a:noFill/>
          </a:ln>
        </p:spPr>
        <p:txBody>
          <a:bodyPr wrap="square" lIns="0" tIns="0" rIns="0" bIns="0" anchor="t"/>
          <a:lstStyle/>
          <a:p>
            <a:pPr algn="l">
              <a:lnSpc>
                <a:spcPct val="114000"/>
              </a:lnSpc>
              <a:spcBef>
                <a:spcPts val="0"/>
              </a:spcBef>
              <a:spcAft>
                <a:spcPts val="0"/>
              </a:spcAft>
              <a:buNone/>
              <a:defRPr sz="1200" b="0">
                <a:solidFill>
                  <a:srgbClr val="8491A7"/>
                </a:solidFill>
                <a:latin typeface="DejaVu Sans Mono"/>
                <a:ea typeface="DejaVu Sans Mono"/>
                <a:cs typeface="DejaVu Sans Mono"/>
              </a:defRPr>
            </a:pPr>
            <a:r>
              <a:rPr lang="en-NL" sz="1200" b="0">
                <a:solidFill>
                  <a:srgbClr val="596663"/>
                </a:solidFill>
                <a:latin typeface="DejaVu Sans"/>
              </a:rPr>
              <a:t>02</a:t>
            </a:r>
          </a:p>
        </p:txBody>
      </p:sp>
      <p:sp>
        <p:nvSpPr>
          <p:cNvPr id="152" name="Rectangle 151">
            <a:extLst>
              <a:ext uri="{FF2B5EF4-FFF2-40B4-BE49-F238E27FC236}">
                <a16:creationId xmlns:a16="http://schemas.microsoft.com/office/drawing/2014/main" id="{975781A2-759D-4783-9B34-87DF73C6FE23}"/>
              </a:ext>
            </a:extLst>
          </p:cNvPr>
          <p:cNvSpPr>
            <a:spLocks noGrp="1"/>
          </p:cNvSpPr>
          <p:nvPr/>
        </p:nvSpPr>
        <p:spPr>
          <a:xfrm>
            <a:off x="731520" y="2606040"/>
            <a:ext cx="7498079" cy="548640"/>
          </a:xfrm>
          <a:prstGeom prst="rect">
            <a:avLst/>
          </a:prstGeom>
          <a:noFill/>
          <a:ln w="0">
            <a:noFill/>
          </a:ln>
        </p:spPr>
        <p:txBody>
          <a:bodyPr wrap="square" lIns="0" tIns="0" rIns="0" bIns="0" anchor="t"/>
          <a:lstStyle/>
          <a:p>
            <a:pPr algn="l">
              <a:lnSpc>
                <a:spcPct val="114000"/>
              </a:lnSpc>
              <a:spcBef>
                <a:spcPts val="0"/>
              </a:spcBef>
              <a:spcAft>
                <a:spcPts val="0"/>
              </a:spcAft>
              <a:buNone/>
              <a:defRPr sz="1800" b="0">
                <a:solidFill>
                  <a:srgbClr val="E8EDF5"/>
                </a:solidFill>
                <a:latin typeface="DejaVu Sans"/>
                <a:ea typeface="DejaVu Sans"/>
                <a:cs typeface="DejaVu Sans"/>
              </a:defRPr>
            </a:pPr>
            <a:r>
              <a:rPr lang="en-US" sz="2500" b="1">
                <a:solidFill>
                  <a:srgbClr val="276C63"/>
                </a:solidFill>
                <a:latin typeface="DejaVu Sans"/>
              </a:rPr>
              <a:t>Agents can act</a:t>
            </a:r>
          </a:p>
        </p:txBody>
      </p:sp>
      <p:sp>
        <p:nvSpPr>
          <p:cNvPr id="155" name="Rectangle 154">
            <a:extLst>
              <a:ext uri="{FF2B5EF4-FFF2-40B4-BE49-F238E27FC236}">
                <a16:creationId xmlns:a16="http://schemas.microsoft.com/office/drawing/2014/main" id="{8E6B1B54-DB5E-4B32-86E7-72BFA4105CF6}"/>
              </a:ext>
            </a:extLst>
          </p:cNvPr>
          <p:cNvSpPr>
            <a:spLocks noGrp="1"/>
          </p:cNvSpPr>
          <p:nvPr/>
        </p:nvSpPr>
        <p:spPr>
          <a:xfrm>
            <a:off x="731520" y="7543800"/>
            <a:ext cx="7680960" cy="548640"/>
          </a:xfrm>
          <a:prstGeom prst="rect">
            <a:avLst/>
          </a:prstGeom>
          <a:noFill/>
          <a:ln w="0">
            <a:noFill/>
          </a:ln>
        </p:spPr>
        <p:txBody>
          <a:bodyPr wrap="square" lIns="0" tIns="0" rIns="0" bIns="0" anchor="t"/>
          <a:lstStyle/>
          <a:p>
            <a:pPr algn="l">
              <a:lnSpc>
                <a:spcPct val="114000"/>
              </a:lnSpc>
              <a:spcBef>
                <a:spcPts val="0"/>
              </a:spcBef>
              <a:spcAft>
                <a:spcPts val="0"/>
              </a:spcAft>
              <a:buNone/>
              <a:defRPr sz="1800" b="0">
                <a:solidFill>
                  <a:srgbClr val="E8EDF5"/>
                </a:solidFill>
                <a:latin typeface="DejaVu Sans"/>
                <a:ea typeface="DejaVu Sans"/>
                <a:cs typeface="DejaVu Sans"/>
              </a:defRPr>
            </a:pPr>
            <a:r>
              <a:rPr lang="en-GB" sz="2000" b="0">
                <a:solidFill>
                  <a:srgbClr val="202A2B"/>
                </a:solidFill>
                <a:latin typeface="DejaVu Sans"/>
              </a:rPr>
              <a:t>Change code, run tools, publish changes.</a:t>
            </a:r>
          </a:p>
        </p:txBody>
      </p:sp>
      <p:sp>
        <p:nvSpPr>
          <p:cNvPr id="159" name="Rectangle 158">
            <a:extLst>
              <a:ext uri="{FF2B5EF4-FFF2-40B4-BE49-F238E27FC236}">
                <a16:creationId xmlns:a16="http://schemas.microsoft.com/office/drawing/2014/main" id="{2180FFBE-E74D-4354-BE96-F162A4F21D26}"/>
              </a:ext>
            </a:extLst>
          </p:cNvPr>
          <p:cNvSpPr>
            <a:spLocks noGrp="1"/>
          </p:cNvSpPr>
          <p:nvPr/>
        </p:nvSpPr>
        <p:spPr>
          <a:xfrm>
            <a:off x="8869680" y="2788920"/>
            <a:ext cx="5669280" cy="868680"/>
          </a:xfrm>
          <a:prstGeom prst="rect">
            <a:avLst/>
          </a:prstGeom>
          <a:noFill/>
          <a:ln w="0">
            <a:noFill/>
          </a:ln>
        </p:spPr>
        <p:txBody>
          <a:bodyPr wrap="square" lIns="0" tIns="0" rIns="0" bIns="0" anchor="t"/>
          <a:lstStyle/>
          <a:p>
            <a:pPr algn="l">
              <a:lnSpc>
                <a:spcPct val="114000"/>
              </a:lnSpc>
              <a:spcBef>
                <a:spcPts val="0"/>
              </a:spcBef>
              <a:spcAft>
                <a:spcPts val="0"/>
              </a:spcAft>
              <a:buNone/>
              <a:defRPr sz="1800" b="0">
                <a:solidFill>
                  <a:srgbClr val="E8EDF5"/>
                </a:solidFill>
                <a:latin typeface="DejaVu Sans"/>
                <a:ea typeface="DejaVu Sans"/>
                <a:cs typeface="DejaVu Sans"/>
              </a:defRPr>
            </a:pPr>
            <a:r>
              <a:rPr lang="en-US" sz="2500" b="1">
                <a:solidFill>
                  <a:srgbClr val="276C63"/>
                </a:solidFill>
                <a:latin typeface="DejaVu Sans"/>
              </a:rPr>
              <a:t>Teams remain accountable</a:t>
            </a:r>
          </a:p>
        </p:txBody>
      </p:sp>
      <p:sp>
        <p:nvSpPr>
          <p:cNvPr id="163" name="Rectangle 162">
            <a:extLst>
              <a:ext uri="{FF2B5EF4-FFF2-40B4-BE49-F238E27FC236}">
                <a16:creationId xmlns:a16="http://schemas.microsoft.com/office/drawing/2014/main" id="{C024575B-2BFF-4DF2-831B-2500996FD750}"/>
              </a:ext>
            </a:extLst>
          </p:cNvPr>
          <p:cNvSpPr>
            <a:spLocks noGrp="1"/>
          </p:cNvSpPr>
          <p:nvPr/>
        </p:nvSpPr>
        <p:spPr>
          <a:xfrm>
            <a:off x="8869680" y="3931920"/>
            <a:ext cx="5623560" cy="2377440"/>
          </a:xfrm>
          <a:prstGeom prst="rect">
            <a:avLst/>
          </a:prstGeom>
          <a:noFill/>
          <a:ln w="0">
            <a:noFill/>
          </a:ln>
        </p:spPr>
        <p:txBody>
          <a:bodyPr wrap="square" lIns="0" tIns="0" rIns="0" bIns="0" anchor="t"/>
          <a:lstStyle/>
          <a:p>
            <a:pPr algn="l">
              <a:lnSpc>
                <a:spcPct val="114000"/>
              </a:lnSpc>
              <a:spcBef>
                <a:spcPts val="0"/>
              </a:spcBef>
              <a:spcAft>
                <a:spcPts val="0"/>
              </a:spcAft>
              <a:buNone/>
              <a:defRPr sz="1800" b="0">
                <a:solidFill>
                  <a:srgbClr val="E8EDF5"/>
                </a:solidFill>
                <a:latin typeface="DejaVu Sans"/>
                <a:ea typeface="DejaVu Sans"/>
                <a:cs typeface="DejaVu Sans"/>
              </a:defRPr>
            </a:pPr>
            <a:r>
              <a:rPr lang="en-GB" sz="2500" b="0">
                <a:solidFill>
                  <a:srgbClr val="202A2B"/>
                </a:solidFill>
                <a:latin typeface="DejaVu Sans"/>
              </a:rPr>
              <a:t>What could it access?</a:t>
            </a:r>
          </a:p>
          <a:p>
            <a:pPr>
              <a:lnSpc>
                <a:spcPct val="114000"/>
              </a:lnSpc>
            </a:pPr>
            <a:r>
              <a:rPr lang="en-GB" sz="2500" b="0">
                <a:solidFill>
                  <a:srgbClr val="202A2B"/>
                </a:solidFill>
                <a:latin typeface="DejaVu Sans"/>
              </a:rPr>
              <a:t>Who authorized the action?</a:t>
            </a:r>
          </a:p>
          <a:p>
            <a:pPr>
              <a:lnSpc>
                <a:spcPct val="114000"/>
              </a:lnSpc>
            </a:pPr>
            <a:r>
              <a:rPr lang="en-GB" sz="2500" b="0">
                <a:solidFill>
                  <a:srgbClr val="202A2B"/>
                </a:solidFill>
                <a:latin typeface="DejaVu Sans"/>
              </a:rPr>
              <a:t>What evidence supports it?</a:t>
            </a:r>
          </a:p>
        </p:txBody>
      </p:sp>
      <p:sp>
        <p:nvSpPr>
          <p:cNvPr id="178" name="Rectangle 177">
            <a:extLst>
              <a:ext uri="{FF2B5EF4-FFF2-40B4-BE49-F238E27FC236}">
                <a16:creationId xmlns:a16="http://schemas.microsoft.com/office/drawing/2014/main" id="{1232F859-6A3F-40CF-B641-133BD39CF3D3}"/>
              </a:ext>
            </a:extLst>
          </p:cNvPr>
          <p:cNvSpPr>
            <a:spLocks noGrp="1"/>
          </p:cNvSpPr>
          <p:nvPr/>
        </p:nvSpPr>
        <p:spPr>
          <a:xfrm>
            <a:off x="8869680" y="6675120"/>
            <a:ext cx="5577840" cy="1005840"/>
          </a:xfrm>
          <a:prstGeom prst="rect">
            <a:avLst/>
          </a:prstGeom>
          <a:noFill/>
          <a:ln w="0">
            <a:noFill/>
          </a:ln>
        </p:spPr>
        <p:txBody>
          <a:bodyPr wrap="square" lIns="0" tIns="0" rIns="0" bIns="0" anchor="t"/>
          <a:lstStyle/>
          <a:p>
            <a:pPr algn="l">
              <a:lnSpc>
                <a:spcPct val="114000"/>
              </a:lnSpc>
              <a:spcBef>
                <a:spcPts val="0"/>
              </a:spcBef>
              <a:spcAft>
                <a:spcPts val="0"/>
              </a:spcAft>
              <a:buNone/>
              <a:defRPr sz="2100" b="0">
                <a:solidFill>
                  <a:srgbClr val="8491A7"/>
                </a:solidFill>
                <a:latin typeface="DejaVu Sans"/>
                <a:ea typeface="DejaVu Sans"/>
                <a:cs typeface="DejaVu Sans"/>
              </a:defRPr>
            </a:pPr>
            <a:r>
              <a:rPr lang="en-GB" sz="2200" b="0">
                <a:solidFill>
                  <a:srgbClr val="596663"/>
                </a:solidFill>
                <a:latin typeface="DejaVu Sans"/>
              </a:rPr>
              <a:t>Prompts alone cannot answer these questions.</a:t>
            </a:r>
          </a:p>
        </p:txBody>
      </p:sp>
    </p:spTree>
    <p:extLst>
      <p:ext uri="{BB962C8B-B14F-4D97-AF65-F5344CB8AC3E}">
        <p14:creationId xmlns:p14="http://schemas.microsoft.com/office/powerpoint/2010/main" val="269183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7F5EF"/>
        </a:solidFill>
        <a:effectLst/>
      </p:bgPr>
    </p:bg>
    <p:spTree>
      <p:nvGrpSpPr>
        <p:cNvPr id="1" name=""/>
        <p:cNvGrpSpPr/>
        <p:nvPr/>
      </p:nvGrpSpPr>
      <p:grpSpPr>
        <a:xfrm>
          <a:off x="0" y="0"/>
          <a:ext cx="0" cy="0"/>
          <a:chOff x="0" y="0"/>
          <a:chExt cx="0" cy="0"/>
        </a:xfrm>
      </p:grpSpPr>
      <p:pic>
        <p:nvPicPr>
          <p:cNvPr id="166" name="Picture 165" descr="Four stages: task definition, isolated execution, evidence review and approval"/>
          <p:cNvPicPr>
            <a:picLocks noChangeAspect="1"/>
          </p:cNvPicPr>
          <p:nvPr/>
        </p:nvPicPr>
        <p:blipFill>
          <a:blip r:embed="rId3"/>
          <a:srcRect t="25500" b="25500"/>
          <a:stretch>
            <a:fillRect/>
          </a:stretch>
        </p:blipFill>
        <p:spPr>
          <a:xfrm>
            <a:off x="731520" y="1874519"/>
            <a:ext cx="13761720" cy="4495495"/>
          </a:xfrm>
          <a:prstGeom prst="rect">
            <a:avLst/>
          </a:prstGeom>
        </p:spPr>
      </p:pic>
      <p:sp>
        <p:nvSpPr>
          <p:cNvPr id="145" name="Rectangle 144">
            <a:extLst>
              <a:ext uri="{FF2B5EF4-FFF2-40B4-BE49-F238E27FC236}">
                <a16:creationId xmlns:a16="http://schemas.microsoft.com/office/drawing/2014/main" id="{D090F02A-E244-4313-A94B-AA333610C92A}"/>
              </a:ext>
            </a:extLst>
          </p:cNvPr>
          <p:cNvSpPr>
            <a:spLocks noGrp="1"/>
          </p:cNvSpPr>
          <p:nvPr/>
        </p:nvSpPr>
        <p:spPr>
          <a:xfrm>
            <a:off x="731520" y="438912"/>
            <a:ext cx="11887200" cy="320040"/>
          </a:xfrm>
          <a:prstGeom prst="rect">
            <a:avLst/>
          </a:prstGeom>
          <a:noFill/>
          <a:ln w="0">
            <a:noFill/>
          </a:ln>
        </p:spPr>
        <p:txBody>
          <a:bodyPr wrap="square" lIns="0" tIns="0" rIns="0" bIns="0" anchor="t"/>
          <a:lstStyle/>
          <a:p>
            <a:pPr algn="l">
              <a:lnSpc>
                <a:spcPct val="114000"/>
              </a:lnSpc>
              <a:spcBef>
                <a:spcPts val="0"/>
              </a:spcBef>
              <a:spcAft>
                <a:spcPts val="0"/>
              </a:spcAft>
              <a:buNone/>
              <a:defRPr sz="1275" b="0">
                <a:solidFill>
                  <a:srgbClr val="5EEAD4"/>
                </a:solidFill>
                <a:latin typeface="DejaVu Sans Mono"/>
                <a:ea typeface="DejaVu Sans Mono"/>
                <a:cs typeface="DejaVu Sans Mono"/>
              </a:defRPr>
            </a:pPr>
            <a:r>
              <a:rPr lang="en-US" sz="1300" b="1">
                <a:solidFill>
                  <a:srgbClr val="276C63"/>
                </a:solidFill>
                <a:latin typeface="DejaVu Sans"/>
              </a:rPr>
              <a:t>AUTODEV</a:t>
            </a:r>
          </a:p>
        </p:txBody>
      </p:sp>
      <p:sp>
        <p:nvSpPr>
          <p:cNvPr id="146" name="Rectangle 145">
            <a:extLst>
              <a:ext uri="{FF2B5EF4-FFF2-40B4-BE49-F238E27FC236}">
                <a16:creationId xmlns:a16="http://schemas.microsoft.com/office/drawing/2014/main" id="{AD4930CA-7A1B-4789-8E37-A2C7F1DAD3F1}"/>
              </a:ext>
            </a:extLst>
          </p:cNvPr>
          <p:cNvSpPr>
            <a:spLocks noGrp="1"/>
          </p:cNvSpPr>
          <p:nvPr/>
        </p:nvSpPr>
        <p:spPr>
          <a:xfrm>
            <a:off x="731520" y="1033271"/>
            <a:ext cx="13807440" cy="914400"/>
          </a:xfrm>
          <a:prstGeom prst="rect">
            <a:avLst/>
          </a:prstGeom>
          <a:noFill/>
          <a:ln w="0">
            <a:noFill/>
          </a:ln>
        </p:spPr>
        <p:txBody>
          <a:bodyPr wrap="square" lIns="0" tIns="0" rIns="0" bIns="0" anchor="t"/>
          <a:lstStyle/>
          <a:p>
            <a:pPr algn="l">
              <a:lnSpc>
                <a:spcPct val="114000"/>
              </a:lnSpc>
              <a:spcBef>
                <a:spcPts val="0"/>
              </a:spcBef>
              <a:spcAft>
                <a:spcPts val="0"/>
              </a:spcAft>
              <a:buNone/>
              <a:defRPr sz="3600" b="1">
                <a:solidFill>
                  <a:srgbClr val="E8EDF5"/>
                </a:solidFill>
                <a:latin typeface="DejaVu Sans"/>
                <a:ea typeface="DejaVu Sans"/>
                <a:cs typeface="DejaVu Sans"/>
              </a:defRPr>
            </a:pPr>
            <a:r>
              <a:rPr lang="en-GB" sz="3600" b="1">
                <a:solidFill>
                  <a:srgbClr val="202A2B"/>
                </a:solidFill>
                <a:latin typeface="DejaVu Sans"/>
              </a:rPr>
              <a:t>Every change follows a governed workflow</a:t>
            </a:r>
          </a:p>
        </p:txBody>
      </p:sp>
      <p:sp>
        <p:nvSpPr>
          <p:cNvPr id="149" name="Rectangle 148">
            <a:extLst>
              <a:ext uri="{FF2B5EF4-FFF2-40B4-BE49-F238E27FC236}">
                <a16:creationId xmlns:a16="http://schemas.microsoft.com/office/drawing/2014/main" id="{7D501D92-7281-47F8-ADE9-BA48FD25BE96}"/>
              </a:ext>
            </a:extLst>
          </p:cNvPr>
          <p:cNvSpPr>
            <a:spLocks noGrp="1"/>
          </p:cNvSpPr>
          <p:nvPr/>
        </p:nvSpPr>
        <p:spPr>
          <a:xfrm>
            <a:off x="731520" y="7744968"/>
            <a:ext cx="13075920" cy="548640"/>
          </a:xfrm>
          <a:prstGeom prst="rect">
            <a:avLst/>
          </a:prstGeom>
          <a:noFill/>
          <a:ln w="0">
            <a:noFill/>
          </a:ln>
        </p:spPr>
        <p:txBody>
          <a:bodyPr wrap="square" lIns="0" tIns="0" rIns="0" bIns="0" anchor="t"/>
          <a:lstStyle/>
          <a:p>
            <a:pPr algn="l">
              <a:lnSpc>
                <a:spcPct val="114000"/>
              </a:lnSpc>
              <a:spcBef>
                <a:spcPts val="0"/>
              </a:spcBef>
              <a:spcAft>
                <a:spcPts val="0"/>
              </a:spcAft>
              <a:buNone/>
              <a:defRPr sz="1050" b="0">
                <a:solidFill>
                  <a:srgbClr val="8491A7"/>
                </a:solidFill>
                <a:latin typeface="DejaVu Sans Mono"/>
                <a:ea typeface="DejaVu Sans Mono"/>
                <a:cs typeface="DejaVu Sans Mono"/>
              </a:defRPr>
            </a:pPr>
            <a:r>
              <a:rPr lang="en-GB" sz="1800" b="0">
                <a:solidFill>
                  <a:srgbClr val="276C63"/>
                </a:solidFill>
                <a:latin typeface="DejaVu Sans"/>
              </a:rPr>
              <a:t>Local policy controls authority. The workflow controller owns phase transitions.</a:t>
            </a:r>
          </a:p>
        </p:txBody>
      </p:sp>
      <p:sp>
        <p:nvSpPr>
          <p:cNvPr id="150" name="Rectangle 149">
            <a:extLst>
              <a:ext uri="{FF2B5EF4-FFF2-40B4-BE49-F238E27FC236}">
                <a16:creationId xmlns:a16="http://schemas.microsoft.com/office/drawing/2014/main" id="{D6358BF4-FDEE-4966-9558-70EC755E988A}"/>
              </a:ext>
            </a:extLst>
          </p:cNvPr>
          <p:cNvSpPr>
            <a:spLocks noGrp="1"/>
          </p:cNvSpPr>
          <p:nvPr/>
        </p:nvSpPr>
        <p:spPr>
          <a:xfrm>
            <a:off x="13807440" y="7936992"/>
            <a:ext cx="640080" cy="292608"/>
          </a:xfrm>
          <a:prstGeom prst="rect">
            <a:avLst/>
          </a:prstGeom>
          <a:noFill/>
          <a:ln w="0">
            <a:noFill/>
          </a:ln>
        </p:spPr>
        <p:txBody>
          <a:bodyPr wrap="square" lIns="0" tIns="0" rIns="0" bIns="0" anchor="t"/>
          <a:lstStyle/>
          <a:p>
            <a:pPr algn="l">
              <a:lnSpc>
                <a:spcPct val="114000"/>
              </a:lnSpc>
              <a:spcBef>
                <a:spcPts val="0"/>
              </a:spcBef>
              <a:spcAft>
                <a:spcPts val="0"/>
              </a:spcAft>
              <a:buNone/>
              <a:defRPr sz="1200" b="0">
                <a:solidFill>
                  <a:srgbClr val="8491A7"/>
                </a:solidFill>
                <a:latin typeface="DejaVu Sans Mono"/>
                <a:ea typeface="DejaVu Sans Mono"/>
                <a:cs typeface="DejaVu Sans Mono"/>
              </a:defRPr>
            </a:pPr>
            <a:r>
              <a:rPr lang="en-NL" sz="1200" b="0">
                <a:solidFill>
                  <a:srgbClr val="596663"/>
                </a:solidFill>
                <a:latin typeface="DejaVu Sans"/>
              </a:rPr>
              <a:t>03</a:t>
            </a:r>
          </a:p>
        </p:txBody>
      </p:sp>
      <p:sp>
        <p:nvSpPr>
          <p:cNvPr id="159" name="Rectangle 158">
            <a:extLst>
              <a:ext uri="{FF2B5EF4-FFF2-40B4-BE49-F238E27FC236}">
                <a16:creationId xmlns:a16="http://schemas.microsoft.com/office/drawing/2014/main" id="{9B548065-D8F1-4ADA-8145-D2BF9A815E9E}"/>
              </a:ext>
            </a:extLst>
          </p:cNvPr>
          <p:cNvSpPr>
            <a:spLocks noGrp="1"/>
          </p:cNvSpPr>
          <p:nvPr/>
        </p:nvSpPr>
        <p:spPr>
          <a:xfrm>
            <a:off x="731520" y="6547104"/>
            <a:ext cx="3108960" cy="1051560"/>
          </a:xfrm>
          <a:prstGeom prst="rect">
            <a:avLst/>
          </a:prstGeom>
          <a:noFill/>
          <a:ln w="0">
            <a:noFill/>
          </a:ln>
        </p:spPr>
        <p:txBody>
          <a:bodyPr wrap="square" lIns="0" tIns="0" rIns="0" bIns="0" anchor="t"/>
          <a:lstStyle/>
          <a:p>
            <a:pPr algn="l">
              <a:lnSpc>
                <a:spcPct val="114000"/>
              </a:lnSpc>
              <a:spcBef>
                <a:spcPts val="0"/>
              </a:spcBef>
              <a:spcAft>
                <a:spcPts val="0"/>
              </a:spcAft>
              <a:buNone/>
              <a:defRPr sz="2250" b="1">
                <a:solidFill>
                  <a:srgbClr val="F87171"/>
                </a:solidFill>
                <a:latin typeface="DejaVu Sans"/>
                <a:ea typeface="DejaVu Sans"/>
                <a:cs typeface="DejaVu Sans"/>
              </a:defRPr>
            </a:pPr>
            <a:r>
              <a:rPr lang="en-US" sz="2400" b="1">
                <a:solidFill>
                  <a:srgbClr val="202A2B"/>
                </a:solidFill>
                <a:latin typeface="DejaVu Sans"/>
              </a:rPr>
              <a:t>01  Define the task</a:t>
            </a:r>
          </a:p>
        </p:txBody>
      </p:sp>
      <p:sp>
        <p:nvSpPr>
          <p:cNvPr id="161" name="Rectangle 160">
            <a:extLst>
              <a:ext uri="{FF2B5EF4-FFF2-40B4-BE49-F238E27FC236}">
                <a16:creationId xmlns:a16="http://schemas.microsoft.com/office/drawing/2014/main" id="{224BE2FD-FC75-4418-A292-80ACA181E66A}"/>
              </a:ext>
            </a:extLst>
          </p:cNvPr>
          <p:cNvSpPr>
            <a:spLocks noGrp="1"/>
          </p:cNvSpPr>
          <p:nvPr/>
        </p:nvSpPr>
        <p:spPr>
          <a:xfrm>
            <a:off x="4251960" y="6547104"/>
            <a:ext cx="3108960" cy="1051560"/>
          </a:xfrm>
          <a:prstGeom prst="rect">
            <a:avLst/>
          </a:prstGeom>
          <a:noFill/>
          <a:ln w="0">
            <a:noFill/>
          </a:ln>
        </p:spPr>
        <p:txBody>
          <a:bodyPr wrap="square" lIns="0" tIns="0" rIns="0" bIns="0" anchor="t"/>
          <a:lstStyle/>
          <a:p>
            <a:pPr algn="l">
              <a:lnSpc>
                <a:spcPct val="114000"/>
              </a:lnSpc>
              <a:spcBef>
                <a:spcPts val="0"/>
              </a:spcBef>
              <a:spcAft>
                <a:spcPts val="0"/>
              </a:spcAft>
              <a:buNone/>
              <a:defRPr sz="2250" b="1">
                <a:solidFill>
                  <a:srgbClr val="F5BA55"/>
                </a:solidFill>
                <a:latin typeface="DejaVu Sans"/>
                <a:ea typeface="DejaVu Sans"/>
                <a:cs typeface="DejaVu Sans"/>
              </a:defRPr>
            </a:pPr>
            <a:r>
              <a:rPr lang="en-US" sz="2400" b="1">
                <a:solidFill>
                  <a:srgbClr val="202A2B"/>
                </a:solidFill>
                <a:latin typeface="DejaVu Sans"/>
              </a:rPr>
              <a:t>02  Execute in</a:t>
            </a:r>
          </a:p>
          <a:p>
            <a:pPr>
              <a:lnSpc>
                <a:spcPct val="114000"/>
              </a:lnSpc>
            </a:pPr>
            <a:r>
              <a:rPr lang="en-US" sz="2400" b="1">
                <a:solidFill>
                  <a:srgbClr val="202A2B"/>
                </a:solidFill>
                <a:latin typeface="DejaVu Sans"/>
              </a:rPr>
              <a:t>      isolation</a:t>
            </a:r>
          </a:p>
        </p:txBody>
      </p:sp>
      <p:sp>
        <p:nvSpPr>
          <p:cNvPr id="163" name="Rectangle 162">
            <a:extLst>
              <a:ext uri="{FF2B5EF4-FFF2-40B4-BE49-F238E27FC236}">
                <a16:creationId xmlns:a16="http://schemas.microsoft.com/office/drawing/2014/main" id="{0BADC103-906D-4CD3-A9DF-A63E229367DF}"/>
              </a:ext>
            </a:extLst>
          </p:cNvPr>
          <p:cNvSpPr>
            <a:spLocks noGrp="1"/>
          </p:cNvSpPr>
          <p:nvPr/>
        </p:nvSpPr>
        <p:spPr>
          <a:xfrm>
            <a:off x="7726679" y="6547104"/>
            <a:ext cx="3108960" cy="1051560"/>
          </a:xfrm>
          <a:prstGeom prst="rect">
            <a:avLst/>
          </a:prstGeom>
          <a:noFill/>
          <a:ln w="0">
            <a:noFill/>
          </a:ln>
        </p:spPr>
        <p:txBody>
          <a:bodyPr wrap="square" lIns="0" tIns="0" rIns="0" bIns="0" anchor="t"/>
          <a:lstStyle/>
          <a:p>
            <a:pPr algn="l">
              <a:lnSpc>
                <a:spcPct val="114000"/>
              </a:lnSpc>
              <a:spcBef>
                <a:spcPts val="0"/>
              </a:spcBef>
              <a:spcAft>
                <a:spcPts val="0"/>
              </a:spcAft>
              <a:buNone/>
              <a:defRPr sz="2250" b="1">
                <a:solidFill>
                  <a:srgbClr val="F5BA55"/>
                </a:solidFill>
                <a:latin typeface="DejaVu Sans"/>
                <a:ea typeface="DejaVu Sans"/>
                <a:cs typeface="DejaVu Sans"/>
              </a:defRPr>
            </a:pPr>
            <a:r>
              <a:rPr lang="en-US" sz="2400" b="1">
                <a:solidFill>
                  <a:srgbClr val="202A2B"/>
                </a:solidFill>
                <a:latin typeface="DejaVu Sans"/>
              </a:rPr>
              <a:t>03  Inspect the</a:t>
            </a:r>
          </a:p>
          <a:p>
            <a:pPr>
              <a:lnSpc>
                <a:spcPct val="114000"/>
              </a:lnSpc>
            </a:pPr>
            <a:r>
              <a:rPr lang="en-US" sz="2400" b="1">
                <a:solidFill>
                  <a:srgbClr val="202A2B"/>
                </a:solidFill>
                <a:latin typeface="DejaVu Sans"/>
              </a:rPr>
              <a:t>      evidence</a:t>
            </a:r>
          </a:p>
        </p:txBody>
      </p:sp>
      <p:sp>
        <p:nvSpPr>
          <p:cNvPr id="165" name="Rectangle 164">
            <a:extLst>
              <a:ext uri="{FF2B5EF4-FFF2-40B4-BE49-F238E27FC236}">
                <a16:creationId xmlns:a16="http://schemas.microsoft.com/office/drawing/2014/main" id="{49D753EE-F84B-4DDE-A59E-DF62E7FC38C6}"/>
              </a:ext>
            </a:extLst>
          </p:cNvPr>
          <p:cNvSpPr>
            <a:spLocks noGrp="1"/>
          </p:cNvSpPr>
          <p:nvPr/>
        </p:nvSpPr>
        <p:spPr>
          <a:xfrm>
            <a:off x="11201400" y="6547104"/>
            <a:ext cx="3108960" cy="1051560"/>
          </a:xfrm>
          <a:prstGeom prst="rect">
            <a:avLst/>
          </a:prstGeom>
          <a:noFill/>
          <a:ln w="0">
            <a:noFill/>
          </a:ln>
        </p:spPr>
        <p:txBody>
          <a:bodyPr wrap="square" lIns="0" tIns="0" rIns="0" bIns="0" anchor="t"/>
          <a:lstStyle/>
          <a:p>
            <a:pPr algn="l">
              <a:lnSpc>
                <a:spcPct val="114000"/>
              </a:lnSpc>
              <a:spcBef>
                <a:spcPts val="0"/>
              </a:spcBef>
              <a:spcAft>
                <a:spcPts val="0"/>
              </a:spcAft>
              <a:buNone/>
              <a:defRPr sz="1425" b="0">
                <a:solidFill>
                  <a:srgbClr val="8491A7"/>
                </a:solidFill>
                <a:latin typeface="DejaVu Sans Mono"/>
                <a:ea typeface="DejaVu Sans Mono"/>
                <a:cs typeface="DejaVu Sans Mono"/>
              </a:defRPr>
            </a:pPr>
            <a:r>
              <a:rPr lang="en-US" sz="2400" b="1">
                <a:solidFill>
                  <a:srgbClr val="202A2B"/>
                </a:solidFill>
                <a:latin typeface="DejaVu Sans"/>
              </a:rPr>
              <a:t>04  Approve</a:t>
            </a:r>
          </a:p>
          <a:p>
            <a:pPr>
              <a:lnSpc>
                <a:spcPct val="114000"/>
              </a:lnSpc>
            </a:pPr>
            <a:r>
              <a:rPr lang="en-US" sz="2400" b="1">
                <a:solidFill>
                  <a:srgbClr val="202A2B"/>
                </a:solidFill>
                <a:latin typeface="DejaVu Sans"/>
              </a:rPr>
              <a:t>      publication</a:t>
            </a:r>
          </a:p>
        </p:txBody>
      </p:sp>
    </p:spTree>
    <p:extLst>
      <p:ext uri="{BB962C8B-B14F-4D97-AF65-F5344CB8AC3E}">
        <p14:creationId xmlns:p14="http://schemas.microsoft.com/office/powerpoint/2010/main" val="2020672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7F5EF"/>
        </a:solidFill>
        <a:effectLst/>
      </p:bgPr>
    </p:bg>
    <p:spTree>
      <p:nvGrpSpPr>
        <p:cNvPr id="1" name=""/>
        <p:cNvGrpSpPr/>
        <p:nvPr/>
      </p:nvGrpSpPr>
      <p:grpSpPr>
        <a:xfrm>
          <a:off x="0" y="0"/>
          <a:ext cx="0" cy="0"/>
          <a:chOff x="0" y="0"/>
          <a:chExt cx="0" cy="0"/>
        </a:xfrm>
      </p:grpSpPr>
      <p:pic>
        <p:nvPicPr>
          <p:cNvPr id="179" name="Picture 178" descr="Replaceable software modules above a stable policy and evidence foundation"/>
          <p:cNvPicPr>
            <a:picLocks noChangeAspect="1"/>
          </p:cNvPicPr>
          <p:nvPr/>
        </p:nvPicPr>
        <p:blipFill>
          <a:blip r:embed="rId3"/>
          <a:srcRect/>
          <a:stretch>
            <a:fillRect/>
          </a:stretch>
        </p:blipFill>
        <p:spPr>
          <a:xfrm>
            <a:off x="731520" y="3182112"/>
            <a:ext cx="5897880" cy="4715384"/>
          </a:xfrm>
          <a:prstGeom prst="rect">
            <a:avLst/>
          </a:prstGeom>
        </p:spPr>
      </p:pic>
      <p:sp>
        <p:nvSpPr>
          <p:cNvPr id="145" name="Rectangle 144">
            <a:extLst>
              <a:ext uri="{FF2B5EF4-FFF2-40B4-BE49-F238E27FC236}">
                <a16:creationId xmlns:a16="http://schemas.microsoft.com/office/drawing/2014/main" id="{8C9C4EAC-B111-4462-B420-F08F7573B303}"/>
              </a:ext>
            </a:extLst>
          </p:cNvPr>
          <p:cNvSpPr>
            <a:spLocks noGrp="1"/>
          </p:cNvSpPr>
          <p:nvPr/>
        </p:nvSpPr>
        <p:spPr>
          <a:xfrm>
            <a:off x="731520" y="438912"/>
            <a:ext cx="11887200" cy="320040"/>
          </a:xfrm>
          <a:prstGeom prst="rect">
            <a:avLst/>
          </a:prstGeom>
          <a:noFill/>
          <a:ln w="0">
            <a:noFill/>
          </a:ln>
        </p:spPr>
        <p:txBody>
          <a:bodyPr wrap="square" lIns="0" tIns="0" rIns="0" bIns="0" anchor="t"/>
          <a:lstStyle/>
          <a:p>
            <a:pPr algn="l">
              <a:lnSpc>
                <a:spcPct val="114000"/>
              </a:lnSpc>
              <a:spcBef>
                <a:spcPts val="0"/>
              </a:spcBef>
              <a:spcAft>
                <a:spcPts val="0"/>
              </a:spcAft>
              <a:buNone/>
              <a:defRPr sz="1275" b="0">
                <a:solidFill>
                  <a:srgbClr val="5EEAD4"/>
                </a:solidFill>
                <a:latin typeface="DejaVu Sans Mono"/>
                <a:ea typeface="DejaVu Sans Mono"/>
                <a:cs typeface="DejaVu Sans Mono"/>
              </a:defRPr>
            </a:pPr>
            <a:r>
              <a:rPr lang="en-US" sz="1300" b="1">
                <a:solidFill>
                  <a:srgbClr val="276C63"/>
                </a:solidFill>
                <a:latin typeface="DejaVu Sans"/>
              </a:rPr>
              <a:t>AUTODEV</a:t>
            </a:r>
          </a:p>
        </p:txBody>
      </p:sp>
      <p:sp>
        <p:nvSpPr>
          <p:cNvPr id="146" name="Rectangle 145">
            <a:extLst>
              <a:ext uri="{FF2B5EF4-FFF2-40B4-BE49-F238E27FC236}">
                <a16:creationId xmlns:a16="http://schemas.microsoft.com/office/drawing/2014/main" id="{A67BD60E-922E-4EF6-927E-8339C2C37039}"/>
              </a:ext>
            </a:extLst>
          </p:cNvPr>
          <p:cNvSpPr>
            <a:spLocks noGrp="1"/>
          </p:cNvSpPr>
          <p:nvPr/>
        </p:nvSpPr>
        <p:spPr>
          <a:xfrm>
            <a:off x="731520" y="1051560"/>
            <a:ext cx="13716000" cy="1417320"/>
          </a:xfrm>
          <a:prstGeom prst="rect">
            <a:avLst/>
          </a:prstGeom>
          <a:noFill/>
          <a:ln w="0">
            <a:noFill/>
          </a:ln>
        </p:spPr>
        <p:txBody>
          <a:bodyPr wrap="square" lIns="0" tIns="0" rIns="0" bIns="0" anchor="t"/>
          <a:lstStyle/>
          <a:p>
            <a:pPr algn="l">
              <a:lnSpc>
                <a:spcPct val="114000"/>
              </a:lnSpc>
              <a:spcBef>
                <a:spcPts val="0"/>
              </a:spcBef>
              <a:spcAft>
                <a:spcPts val="0"/>
              </a:spcAft>
              <a:buNone/>
              <a:defRPr sz="3600" b="1">
                <a:solidFill>
                  <a:srgbClr val="E8EDF5"/>
                </a:solidFill>
                <a:latin typeface="DejaVu Sans"/>
                <a:ea typeface="DejaVu Sans"/>
                <a:cs typeface="DejaVu Sans"/>
              </a:defRPr>
            </a:pPr>
            <a:r>
              <a:rPr lang="en-GB" sz="4000" b="1">
                <a:solidFill>
                  <a:srgbClr val="202A2B"/>
                </a:solidFill>
                <a:latin typeface="DejaVu Sans"/>
              </a:rPr>
              <a:t>The agent can change.</a:t>
            </a:r>
          </a:p>
          <a:p>
            <a:pPr algn="l">
              <a:lnSpc>
                <a:spcPct val="114000"/>
              </a:lnSpc>
              <a:spcBef>
                <a:spcPts val="0"/>
              </a:spcBef>
              <a:spcAft>
                <a:spcPts val="0"/>
              </a:spcAft>
              <a:buNone/>
            </a:pPr>
            <a:r>
              <a:rPr lang="en-GB" sz="4000" b="1">
                <a:solidFill>
                  <a:srgbClr val="202A2B"/>
                </a:solidFill>
                <a:latin typeface="DejaVu Sans"/>
              </a:rPr>
              <a:t>The control contract stays.</a:t>
            </a:r>
          </a:p>
        </p:txBody>
      </p:sp>
      <p:sp>
        <p:nvSpPr>
          <p:cNvPr id="149" name="Rectangle 148">
            <a:extLst>
              <a:ext uri="{FF2B5EF4-FFF2-40B4-BE49-F238E27FC236}">
                <a16:creationId xmlns:a16="http://schemas.microsoft.com/office/drawing/2014/main" id="{7A411A4A-EFBD-43EB-A836-548B53A2AAC1}"/>
              </a:ext>
            </a:extLst>
          </p:cNvPr>
          <p:cNvSpPr>
            <a:spLocks noGrp="1"/>
          </p:cNvSpPr>
          <p:nvPr/>
        </p:nvSpPr>
        <p:spPr>
          <a:xfrm>
            <a:off x="731520" y="7909560"/>
            <a:ext cx="12801600" cy="365760"/>
          </a:xfrm>
          <a:prstGeom prst="rect">
            <a:avLst/>
          </a:prstGeom>
          <a:noFill/>
          <a:ln w="0">
            <a:noFill/>
          </a:ln>
        </p:spPr>
        <p:txBody>
          <a:bodyPr wrap="square" lIns="0" tIns="0" rIns="0" bIns="0" anchor="t"/>
          <a:lstStyle/>
          <a:p>
            <a:pPr algn="l">
              <a:lnSpc>
                <a:spcPct val="114000"/>
              </a:lnSpc>
              <a:spcBef>
                <a:spcPts val="0"/>
              </a:spcBef>
              <a:spcAft>
                <a:spcPts val="0"/>
              </a:spcAft>
              <a:buNone/>
              <a:defRPr sz="1050" b="0">
                <a:solidFill>
                  <a:srgbClr val="8491A7"/>
                </a:solidFill>
                <a:latin typeface="DejaVu Sans Mono"/>
                <a:ea typeface="DejaVu Sans Mono"/>
                <a:cs typeface="DejaVu Sans Mono"/>
              </a:defRPr>
            </a:pPr>
            <a:r>
              <a:rPr lang="en-GB" sz="1300" b="0">
                <a:solidFill>
                  <a:srgbClr val="596663"/>
                </a:solidFill>
                <a:latin typeface="DejaVu Sans"/>
              </a:rPr>
              <a:t>External integrations are optional and require configuration and verification.</a:t>
            </a:r>
          </a:p>
        </p:txBody>
      </p:sp>
      <p:sp>
        <p:nvSpPr>
          <p:cNvPr id="150" name="Rectangle 149">
            <a:extLst>
              <a:ext uri="{FF2B5EF4-FFF2-40B4-BE49-F238E27FC236}">
                <a16:creationId xmlns:a16="http://schemas.microsoft.com/office/drawing/2014/main" id="{CC5B5575-F588-4E81-91C6-038A67C48D32}"/>
              </a:ext>
            </a:extLst>
          </p:cNvPr>
          <p:cNvSpPr>
            <a:spLocks noGrp="1"/>
          </p:cNvSpPr>
          <p:nvPr/>
        </p:nvSpPr>
        <p:spPr>
          <a:xfrm>
            <a:off x="13807440" y="7936992"/>
            <a:ext cx="640080" cy="292608"/>
          </a:xfrm>
          <a:prstGeom prst="rect">
            <a:avLst/>
          </a:prstGeom>
          <a:noFill/>
          <a:ln w="0">
            <a:noFill/>
          </a:ln>
        </p:spPr>
        <p:txBody>
          <a:bodyPr wrap="square" lIns="0" tIns="0" rIns="0" bIns="0" anchor="t"/>
          <a:lstStyle/>
          <a:p>
            <a:pPr algn="l">
              <a:lnSpc>
                <a:spcPct val="114000"/>
              </a:lnSpc>
              <a:spcBef>
                <a:spcPts val="0"/>
              </a:spcBef>
              <a:spcAft>
                <a:spcPts val="0"/>
              </a:spcAft>
              <a:buNone/>
              <a:defRPr sz="1200" b="0">
                <a:solidFill>
                  <a:srgbClr val="8491A7"/>
                </a:solidFill>
                <a:latin typeface="DejaVu Sans Mono"/>
                <a:ea typeface="DejaVu Sans Mono"/>
                <a:cs typeface="DejaVu Sans Mono"/>
              </a:defRPr>
            </a:pPr>
            <a:r>
              <a:rPr lang="en-NL" sz="1200" b="0">
                <a:solidFill>
                  <a:srgbClr val="596663"/>
                </a:solidFill>
                <a:latin typeface="DejaVu Sans"/>
              </a:rPr>
              <a:t>04</a:t>
            </a:r>
          </a:p>
        </p:txBody>
      </p:sp>
      <p:sp>
        <p:nvSpPr>
          <p:cNvPr id="152" name="Rectangle 151">
            <a:extLst>
              <a:ext uri="{FF2B5EF4-FFF2-40B4-BE49-F238E27FC236}">
                <a16:creationId xmlns:a16="http://schemas.microsoft.com/office/drawing/2014/main" id="{190EF2E6-A87C-4F9A-94BA-EE6244D030F5}"/>
              </a:ext>
            </a:extLst>
          </p:cNvPr>
          <p:cNvSpPr>
            <a:spLocks noGrp="1"/>
          </p:cNvSpPr>
          <p:nvPr/>
        </p:nvSpPr>
        <p:spPr>
          <a:xfrm>
            <a:off x="731520" y="2560320"/>
            <a:ext cx="6949440" cy="548640"/>
          </a:xfrm>
          <a:prstGeom prst="rect">
            <a:avLst/>
          </a:prstGeom>
          <a:noFill/>
          <a:ln w="0">
            <a:noFill/>
          </a:ln>
        </p:spPr>
        <p:txBody>
          <a:bodyPr wrap="square" lIns="0" tIns="0" rIns="0" bIns="0" anchor="t"/>
          <a:lstStyle/>
          <a:p>
            <a:pPr algn="l">
              <a:lnSpc>
                <a:spcPct val="114000"/>
              </a:lnSpc>
              <a:spcBef>
                <a:spcPts val="0"/>
              </a:spcBef>
              <a:spcAft>
                <a:spcPts val="0"/>
              </a:spcAft>
              <a:buNone/>
              <a:defRPr sz="2550" b="0">
                <a:solidFill>
                  <a:srgbClr val="E8EDF5"/>
                </a:solidFill>
                <a:latin typeface="DejaVu Sans"/>
                <a:ea typeface="DejaVu Sans"/>
                <a:cs typeface="DejaVu Sans"/>
              </a:defRPr>
            </a:pPr>
            <a:r>
              <a:rPr lang="en-US" sz="2400" b="0">
                <a:solidFill>
                  <a:srgbClr val="276C63"/>
                </a:solidFill>
                <a:latin typeface="DejaVu Sans"/>
              </a:rPr>
              <a:t>Stable policy. Comparable evidence.</a:t>
            </a:r>
          </a:p>
        </p:txBody>
      </p:sp>
      <p:sp>
        <p:nvSpPr>
          <p:cNvPr id="154" name="Rectangle 153">
            <a:extLst>
              <a:ext uri="{FF2B5EF4-FFF2-40B4-BE49-F238E27FC236}">
                <a16:creationId xmlns:a16="http://schemas.microsoft.com/office/drawing/2014/main" id="{DB7C2AA6-C487-4C86-B341-A3479C847D4B}"/>
              </a:ext>
            </a:extLst>
          </p:cNvPr>
          <p:cNvSpPr>
            <a:spLocks noGrp="1"/>
          </p:cNvSpPr>
          <p:nvPr/>
        </p:nvSpPr>
        <p:spPr>
          <a:xfrm>
            <a:off x="8092440" y="3840480"/>
            <a:ext cx="6217920" cy="1005840"/>
          </a:xfrm>
          <a:prstGeom prst="rect">
            <a:avLst/>
          </a:prstGeom>
          <a:noFill/>
          <a:ln w="0">
            <a:noFill/>
          </a:ln>
        </p:spPr>
        <p:txBody>
          <a:bodyPr wrap="square" lIns="0" tIns="0" rIns="0" bIns="0" anchor="t"/>
          <a:lstStyle/>
          <a:p>
            <a:pPr algn="l">
              <a:lnSpc>
                <a:spcPct val="114000"/>
              </a:lnSpc>
              <a:spcBef>
                <a:spcPts val="0"/>
              </a:spcBef>
              <a:spcAft>
                <a:spcPts val="0"/>
              </a:spcAft>
              <a:buNone/>
              <a:defRPr sz="1650" b="0">
                <a:solidFill>
                  <a:srgbClr val="E8EDF5"/>
                </a:solidFill>
                <a:latin typeface="DejaVu Sans"/>
                <a:ea typeface="DejaVu Sans"/>
                <a:cs typeface="DejaVu Sans"/>
              </a:defRPr>
            </a:pPr>
            <a:r>
              <a:rPr lang="en-GB" sz="2400" b="0">
                <a:solidFill>
                  <a:srgbClr val="596663"/>
                </a:solidFill>
                <a:latin typeface="DejaVu Sans"/>
              </a:rPr>
              <a:t>Connect agents, models and execution</a:t>
            </a:r>
          </a:p>
          <a:p>
            <a:pPr algn="l">
              <a:lnSpc>
                <a:spcPct val="114000"/>
              </a:lnSpc>
              <a:spcBef>
                <a:spcPts val="0"/>
              </a:spcBef>
              <a:spcAft>
                <a:spcPts val="0"/>
              </a:spcAft>
              <a:buNone/>
            </a:pPr>
            <a:r>
              <a:rPr lang="en-GB" sz="2400" b="0">
                <a:solidFill>
                  <a:srgbClr val="596663"/>
                </a:solidFill>
                <a:latin typeface="DejaVu Sans"/>
              </a:rPr>
              <a:t>providers through adapters.</a:t>
            </a:r>
          </a:p>
        </p:txBody>
      </p:sp>
      <p:sp>
        <p:nvSpPr>
          <p:cNvPr id="155" name="Rectangle 154">
            <a:extLst>
              <a:ext uri="{FF2B5EF4-FFF2-40B4-BE49-F238E27FC236}">
                <a16:creationId xmlns:a16="http://schemas.microsoft.com/office/drawing/2014/main" id="{F289E5DF-35EA-4483-9030-2B0269C9AA3C}"/>
              </a:ext>
            </a:extLst>
          </p:cNvPr>
          <p:cNvSpPr>
            <a:spLocks noGrp="1"/>
          </p:cNvSpPr>
          <p:nvPr/>
        </p:nvSpPr>
        <p:spPr>
          <a:xfrm>
            <a:off x="8092440" y="3063240"/>
            <a:ext cx="6309360" cy="640080"/>
          </a:xfrm>
          <a:prstGeom prst="rect">
            <a:avLst/>
          </a:prstGeom>
          <a:noFill/>
          <a:ln w="0">
            <a:noFill/>
          </a:ln>
        </p:spPr>
        <p:txBody>
          <a:bodyPr wrap="square" lIns="0" tIns="0" rIns="0" bIns="0" anchor="t"/>
          <a:lstStyle/>
          <a:p>
            <a:pPr algn="l">
              <a:lnSpc>
                <a:spcPct val="114000"/>
              </a:lnSpc>
              <a:spcBef>
                <a:spcPts val="0"/>
              </a:spcBef>
              <a:spcAft>
                <a:spcPts val="0"/>
              </a:spcAft>
              <a:buNone/>
              <a:defRPr sz="1350" b="0">
                <a:solidFill>
                  <a:srgbClr val="5EEAD4"/>
                </a:solidFill>
                <a:latin typeface="DejaVu Sans Mono"/>
                <a:ea typeface="DejaVu Sans Mono"/>
                <a:cs typeface="DejaVu Sans Mono"/>
              </a:defRPr>
            </a:pPr>
            <a:r>
              <a:rPr lang="en-US" sz="2700" b="1">
                <a:solidFill>
                  <a:srgbClr val="202A2B"/>
                </a:solidFill>
                <a:latin typeface="DejaVu Sans"/>
              </a:rPr>
              <a:t>Replaceable components</a:t>
            </a:r>
          </a:p>
        </p:txBody>
      </p:sp>
      <p:sp>
        <p:nvSpPr>
          <p:cNvPr id="158" name="Rectangle 157">
            <a:extLst>
              <a:ext uri="{FF2B5EF4-FFF2-40B4-BE49-F238E27FC236}">
                <a16:creationId xmlns:a16="http://schemas.microsoft.com/office/drawing/2014/main" id="{227BD0AF-F900-4644-9145-6529CCE0675B}"/>
              </a:ext>
            </a:extLst>
          </p:cNvPr>
          <p:cNvSpPr>
            <a:spLocks noGrp="1"/>
          </p:cNvSpPr>
          <p:nvPr/>
        </p:nvSpPr>
        <p:spPr>
          <a:xfrm>
            <a:off x="8092440" y="6080760"/>
            <a:ext cx="6217920" cy="1051560"/>
          </a:xfrm>
          <a:prstGeom prst="rect">
            <a:avLst/>
          </a:prstGeom>
          <a:noFill/>
          <a:ln w="0">
            <a:noFill/>
          </a:ln>
        </p:spPr>
        <p:txBody>
          <a:bodyPr wrap="square" lIns="0" tIns="0" rIns="0" bIns="0" anchor="t"/>
          <a:lstStyle/>
          <a:p>
            <a:pPr algn="l">
              <a:lnSpc>
                <a:spcPct val="114000"/>
              </a:lnSpc>
              <a:spcBef>
                <a:spcPts val="0"/>
              </a:spcBef>
              <a:spcAft>
                <a:spcPts val="0"/>
              </a:spcAft>
              <a:buNone/>
              <a:defRPr sz="1650" b="0">
                <a:solidFill>
                  <a:srgbClr val="E8EDF5"/>
                </a:solidFill>
                <a:latin typeface="DejaVu Sans"/>
                <a:ea typeface="DejaVu Sans"/>
                <a:cs typeface="DejaVu Sans"/>
              </a:defRPr>
            </a:pPr>
            <a:r>
              <a:rPr lang="en-GB" sz="2400" b="0">
                <a:solidFill>
                  <a:srgbClr val="596663"/>
                </a:solidFill>
                <a:latin typeface="DejaVu Sans"/>
              </a:rPr>
              <a:t>Evaluate a frozen agent version and</a:t>
            </a:r>
          </a:p>
          <a:p>
            <a:pPr algn="l">
              <a:lnSpc>
                <a:spcPct val="114000"/>
              </a:lnSpc>
              <a:spcBef>
                <a:spcPts val="0"/>
              </a:spcBef>
              <a:spcAft>
                <a:spcPts val="0"/>
              </a:spcAft>
              <a:buNone/>
            </a:pPr>
            <a:r>
              <a:rPr lang="en-GB" sz="2400" b="0">
                <a:solidFill>
                  <a:srgbClr val="596663"/>
                </a:solidFill>
                <a:latin typeface="DejaVu Sans"/>
              </a:rPr>
              <a:t>dataset, then compare regressions.</a:t>
            </a:r>
          </a:p>
        </p:txBody>
      </p:sp>
      <p:sp>
        <p:nvSpPr>
          <p:cNvPr id="159" name="Rectangle 158">
            <a:extLst>
              <a:ext uri="{FF2B5EF4-FFF2-40B4-BE49-F238E27FC236}">
                <a16:creationId xmlns:a16="http://schemas.microsoft.com/office/drawing/2014/main" id="{AE0FC0B2-BC5D-42F4-BE7C-3A5690F04B6E}"/>
              </a:ext>
            </a:extLst>
          </p:cNvPr>
          <p:cNvSpPr>
            <a:spLocks noGrp="1"/>
          </p:cNvSpPr>
          <p:nvPr/>
        </p:nvSpPr>
        <p:spPr>
          <a:xfrm>
            <a:off x="8092440" y="5349240"/>
            <a:ext cx="6309360" cy="640080"/>
          </a:xfrm>
          <a:prstGeom prst="rect">
            <a:avLst/>
          </a:prstGeom>
          <a:noFill/>
          <a:ln w="0">
            <a:noFill/>
          </a:ln>
        </p:spPr>
        <p:txBody>
          <a:bodyPr wrap="square" lIns="0" tIns="0" rIns="0" bIns="0" anchor="t"/>
          <a:lstStyle/>
          <a:p>
            <a:pPr algn="l">
              <a:lnSpc>
                <a:spcPct val="114000"/>
              </a:lnSpc>
              <a:spcBef>
                <a:spcPts val="0"/>
              </a:spcBef>
              <a:spcAft>
                <a:spcPts val="0"/>
              </a:spcAft>
              <a:buNone/>
              <a:defRPr sz="1350" b="0">
                <a:solidFill>
                  <a:srgbClr val="5EEAD4"/>
                </a:solidFill>
                <a:latin typeface="DejaVu Sans Mono"/>
                <a:ea typeface="DejaVu Sans Mono"/>
                <a:cs typeface="DejaVu Sans Mono"/>
              </a:defRPr>
            </a:pPr>
            <a:r>
              <a:rPr lang="en-US" sz="2700" b="1">
                <a:solidFill>
                  <a:srgbClr val="202A2B"/>
                </a:solidFill>
                <a:latin typeface="DejaVu Sans"/>
              </a:rPr>
              <a:t>Evidence before promotion</a:t>
            </a:r>
          </a:p>
        </p:txBody>
      </p:sp>
      <p:sp>
        <p:nvSpPr>
          <p:cNvPr id="178" name="Rectangle 177">
            <a:extLst>
              <a:ext uri="{FF2B5EF4-FFF2-40B4-BE49-F238E27FC236}">
                <a16:creationId xmlns:a16="http://schemas.microsoft.com/office/drawing/2014/main" id="{335934B3-C8B0-4D49-AD2C-056DA906DD06}"/>
              </a:ext>
            </a:extLst>
          </p:cNvPr>
          <p:cNvSpPr>
            <a:spLocks noGrp="1"/>
          </p:cNvSpPr>
          <p:nvPr/>
        </p:nvSpPr>
        <p:spPr>
          <a:xfrm>
            <a:off x="8092440" y="7269480"/>
            <a:ext cx="6217920" cy="594360"/>
          </a:xfrm>
          <a:prstGeom prst="rect">
            <a:avLst/>
          </a:prstGeom>
          <a:noFill/>
          <a:ln w="0">
            <a:noFill/>
          </a:ln>
        </p:spPr>
        <p:txBody>
          <a:bodyPr wrap="square" lIns="0" tIns="0" rIns="0" bIns="0" anchor="t"/>
          <a:lstStyle/>
          <a:p>
            <a:pPr algn="l">
              <a:lnSpc>
                <a:spcPct val="114000"/>
              </a:lnSpc>
              <a:spcBef>
                <a:spcPts val="0"/>
              </a:spcBef>
              <a:spcAft>
                <a:spcPts val="0"/>
              </a:spcAft>
              <a:buNone/>
              <a:defRPr sz="1800" b="0">
                <a:solidFill>
                  <a:srgbClr val="E8EDF5"/>
                </a:solidFill>
                <a:latin typeface="DejaVu Sans"/>
                <a:ea typeface="DejaVu Sans"/>
                <a:cs typeface="DejaVu Sans"/>
              </a:defRPr>
            </a:pPr>
            <a:r>
              <a:rPr lang="en-GB" sz="1800" b="0">
                <a:solidFill>
                  <a:srgbClr val="596663"/>
                </a:solidFill>
                <a:latin typeface="DejaVu Sans"/>
              </a:rPr>
              <a:t>Complements existing coding and delivery tools.</a:t>
            </a:r>
          </a:p>
        </p:txBody>
      </p:sp>
    </p:spTree>
    <p:extLst>
      <p:ext uri="{BB962C8B-B14F-4D97-AF65-F5344CB8AC3E}">
        <p14:creationId xmlns:p14="http://schemas.microsoft.com/office/powerpoint/2010/main" val="1859275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7F5EF"/>
        </a:solidFill>
        <a:effectLst/>
      </p:bgPr>
    </p:bg>
    <p:spTree>
      <p:nvGrpSpPr>
        <p:cNvPr id="1" name=""/>
        <p:cNvGrpSpPr/>
        <p:nvPr/>
      </p:nvGrpSpPr>
      <p:grpSpPr>
        <a:xfrm>
          <a:off x="0" y="0"/>
          <a:ext cx="0" cy="0"/>
          <a:chOff x="0" y="0"/>
          <a:chExt cx="0" cy="0"/>
        </a:xfrm>
      </p:grpSpPr>
      <p:sp>
        <p:nvSpPr>
          <p:cNvPr id="145" name="Rectangle 144">
            <a:extLst>
              <a:ext uri="{FF2B5EF4-FFF2-40B4-BE49-F238E27FC236}">
                <a16:creationId xmlns:a16="http://schemas.microsoft.com/office/drawing/2014/main" id="{CECDB40C-17F1-4E75-95E9-B04CE334A10F}"/>
              </a:ext>
            </a:extLst>
          </p:cNvPr>
          <p:cNvSpPr>
            <a:spLocks noGrp="1"/>
          </p:cNvSpPr>
          <p:nvPr/>
        </p:nvSpPr>
        <p:spPr>
          <a:xfrm>
            <a:off x="731520" y="438912"/>
            <a:ext cx="11887200" cy="320040"/>
          </a:xfrm>
          <a:prstGeom prst="rect">
            <a:avLst/>
          </a:prstGeom>
          <a:noFill/>
          <a:ln w="0">
            <a:noFill/>
          </a:ln>
        </p:spPr>
        <p:txBody>
          <a:bodyPr wrap="square" lIns="0" tIns="0" rIns="0" bIns="0" anchor="t"/>
          <a:lstStyle/>
          <a:p>
            <a:pPr algn="l">
              <a:lnSpc>
                <a:spcPct val="114000"/>
              </a:lnSpc>
              <a:spcBef>
                <a:spcPts val="0"/>
              </a:spcBef>
              <a:spcAft>
                <a:spcPts val="0"/>
              </a:spcAft>
              <a:buNone/>
              <a:defRPr sz="1275" b="0">
                <a:solidFill>
                  <a:srgbClr val="5EEAD4"/>
                </a:solidFill>
                <a:latin typeface="DejaVu Sans Mono"/>
                <a:ea typeface="DejaVu Sans Mono"/>
                <a:cs typeface="DejaVu Sans Mono"/>
              </a:defRPr>
            </a:pPr>
            <a:r>
              <a:rPr lang="en-US" sz="1300" b="1">
                <a:solidFill>
                  <a:srgbClr val="276C63"/>
                </a:solidFill>
                <a:latin typeface="DejaVu Sans"/>
              </a:rPr>
              <a:t>AUTODEV</a:t>
            </a:r>
          </a:p>
        </p:txBody>
      </p:sp>
      <p:sp>
        <p:nvSpPr>
          <p:cNvPr id="146" name="Rectangle 145">
            <a:extLst>
              <a:ext uri="{FF2B5EF4-FFF2-40B4-BE49-F238E27FC236}">
                <a16:creationId xmlns:a16="http://schemas.microsoft.com/office/drawing/2014/main" id="{B8FB859D-D751-47D3-9E89-9CC9C6812C92}"/>
              </a:ext>
            </a:extLst>
          </p:cNvPr>
          <p:cNvSpPr>
            <a:spLocks noGrp="1"/>
          </p:cNvSpPr>
          <p:nvPr/>
        </p:nvSpPr>
        <p:spPr>
          <a:xfrm>
            <a:off x="731520" y="1051560"/>
            <a:ext cx="13716000" cy="1417320"/>
          </a:xfrm>
          <a:prstGeom prst="rect">
            <a:avLst/>
          </a:prstGeom>
          <a:noFill/>
          <a:ln w="0">
            <a:noFill/>
          </a:ln>
        </p:spPr>
        <p:txBody>
          <a:bodyPr wrap="square" lIns="0" tIns="0" rIns="0" bIns="0" anchor="t"/>
          <a:lstStyle/>
          <a:p>
            <a:pPr algn="l">
              <a:lnSpc>
                <a:spcPct val="114000"/>
              </a:lnSpc>
              <a:spcBef>
                <a:spcPts val="0"/>
              </a:spcBef>
              <a:spcAft>
                <a:spcPts val="0"/>
              </a:spcAft>
              <a:buNone/>
              <a:defRPr sz="3600" b="1">
                <a:solidFill>
                  <a:srgbClr val="E8EDF5"/>
                </a:solidFill>
                <a:latin typeface="DejaVu Sans"/>
                <a:ea typeface="DejaVu Sans"/>
                <a:cs typeface="DejaVu Sans"/>
              </a:defRPr>
            </a:pPr>
            <a:r>
              <a:rPr lang="en-GB" sz="4000" b="1">
                <a:solidFill>
                  <a:srgbClr val="202A2B"/>
                </a:solidFill>
                <a:latin typeface="DejaVu Sans"/>
              </a:rPr>
              <a:t>A defined baseline,</a:t>
            </a:r>
          </a:p>
          <a:p>
            <a:pPr algn="l">
              <a:lnSpc>
                <a:spcPct val="114000"/>
              </a:lnSpc>
              <a:spcBef>
                <a:spcPts val="0"/>
              </a:spcBef>
              <a:spcAft>
                <a:spcPts val="0"/>
              </a:spcAft>
              <a:buNone/>
            </a:pPr>
            <a:r>
              <a:rPr lang="en-GB" sz="4000" b="1">
                <a:solidFill>
                  <a:srgbClr val="202A2B"/>
                </a:solidFill>
                <a:latin typeface="DejaVu Sans"/>
              </a:rPr>
              <a:t>with clear limits</a:t>
            </a:r>
          </a:p>
        </p:txBody>
      </p:sp>
      <p:sp>
        <p:nvSpPr>
          <p:cNvPr id="149" name="Rectangle 148">
            <a:extLst>
              <a:ext uri="{FF2B5EF4-FFF2-40B4-BE49-F238E27FC236}">
                <a16:creationId xmlns:a16="http://schemas.microsoft.com/office/drawing/2014/main" id="{DF856C09-B8DF-4E7E-A379-F0593952AB49}"/>
              </a:ext>
            </a:extLst>
          </p:cNvPr>
          <p:cNvSpPr>
            <a:spLocks noGrp="1"/>
          </p:cNvSpPr>
          <p:nvPr/>
        </p:nvSpPr>
        <p:spPr>
          <a:xfrm>
            <a:off x="731520" y="7909560"/>
            <a:ext cx="13030200" cy="365760"/>
          </a:xfrm>
          <a:prstGeom prst="rect">
            <a:avLst/>
          </a:prstGeom>
          <a:noFill/>
          <a:ln w="0">
            <a:noFill/>
          </a:ln>
        </p:spPr>
        <p:txBody>
          <a:bodyPr wrap="square" lIns="0" tIns="0" rIns="0" bIns="0" anchor="t"/>
          <a:lstStyle/>
          <a:p>
            <a:pPr algn="l">
              <a:lnSpc>
                <a:spcPct val="114000"/>
              </a:lnSpc>
              <a:spcBef>
                <a:spcPts val="0"/>
              </a:spcBef>
              <a:spcAft>
                <a:spcPts val="0"/>
              </a:spcAft>
              <a:buNone/>
              <a:defRPr sz="1050" b="0">
                <a:solidFill>
                  <a:srgbClr val="8491A7"/>
                </a:solidFill>
                <a:latin typeface="DejaVu Sans Mono"/>
                <a:ea typeface="DejaVu Sans Mono"/>
                <a:cs typeface="DejaVu Sans Mono"/>
              </a:defRPr>
            </a:pPr>
            <a:r>
              <a:rPr lang="en-GB" sz="1300" b="0">
                <a:solidFill>
                  <a:srgbClr val="596663"/>
                </a:solidFill>
                <a:latin typeface="DejaVu Sans"/>
              </a:rPr>
              <a:t>No production-readiness, compliance-certification or full Agent Hypervisor conformance claim.</a:t>
            </a:r>
          </a:p>
        </p:txBody>
      </p:sp>
      <p:sp>
        <p:nvSpPr>
          <p:cNvPr id="150" name="Rectangle 149">
            <a:extLst>
              <a:ext uri="{FF2B5EF4-FFF2-40B4-BE49-F238E27FC236}">
                <a16:creationId xmlns:a16="http://schemas.microsoft.com/office/drawing/2014/main" id="{238B69A9-BEDB-46C5-B6D4-DF3A83C6E320}"/>
              </a:ext>
            </a:extLst>
          </p:cNvPr>
          <p:cNvSpPr>
            <a:spLocks noGrp="1"/>
          </p:cNvSpPr>
          <p:nvPr/>
        </p:nvSpPr>
        <p:spPr>
          <a:xfrm>
            <a:off x="13807440" y="7936992"/>
            <a:ext cx="640080" cy="292608"/>
          </a:xfrm>
          <a:prstGeom prst="rect">
            <a:avLst/>
          </a:prstGeom>
          <a:noFill/>
          <a:ln w="0">
            <a:noFill/>
          </a:ln>
        </p:spPr>
        <p:txBody>
          <a:bodyPr wrap="square" lIns="0" tIns="0" rIns="0" bIns="0" anchor="t"/>
          <a:lstStyle/>
          <a:p>
            <a:pPr algn="l">
              <a:lnSpc>
                <a:spcPct val="114000"/>
              </a:lnSpc>
              <a:spcBef>
                <a:spcPts val="0"/>
              </a:spcBef>
              <a:spcAft>
                <a:spcPts val="0"/>
              </a:spcAft>
              <a:buNone/>
              <a:defRPr sz="1200" b="0">
                <a:solidFill>
                  <a:srgbClr val="8491A7"/>
                </a:solidFill>
                <a:latin typeface="DejaVu Sans Mono"/>
                <a:ea typeface="DejaVu Sans Mono"/>
                <a:cs typeface="DejaVu Sans Mono"/>
              </a:defRPr>
            </a:pPr>
            <a:r>
              <a:rPr lang="en-NL" sz="1200" b="0">
                <a:solidFill>
                  <a:srgbClr val="596663"/>
                </a:solidFill>
                <a:latin typeface="DejaVu Sans"/>
              </a:rPr>
              <a:t>05</a:t>
            </a:r>
          </a:p>
        </p:txBody>
      </p:sp>
      <p:sp>
        <p:nvSpPr>
          <p:cNvPr id="151" name="Rectangle 150">
            <a:extLst>
              <a:ext uri="{FF2B5EF4-FFF2-40B4-BE49-F238E27FC236}">
                <a16:creationId xmlns:a16="http://schemas.microsoft.com/office/drawing/2014/main" id="{1E3BDA1E-6B7D-4C9D-B093-A9AC0E611D9F}"/>
              </a:ext>
            </a:extLst>
          </p:cNvPr>
          <p:cNvSpPr>
            <a:spLocks noGrp="1"/>
          </p:cNvSpPr>
          <p:nvPr/>
        </p:nvSpPr>
        <p:spPr>
          <a:xfrm>
            <a:off x="731520" y="2980944"/>
            <a:ext cx="6400800" cy="365760"/>
          </a:xfrm>
          <a:prstGeom prst="rect">
            <a:avLst/>
          </a:prstGeom>
          <a:noFill/>
          <a:ln w="0">
            <a:noFill/>
          </a:ln>
        </p:spPr>
        <p:txBody>
          <a:bodyPr wrap="square" lIns="0" tIns="0" rIns="0" bIns="0" anchor="t"/>
          <a:lstStyle/>
          <a:p>
            <a:pPr algn="l">
              <a:lnSpc>
                <a:spcPct val="114000"/>
              </a:lnSpc>
              <a:spcBef>
                <a:spcPts val="0"/>
              </a:spcBef>
              <a:spcAft>
                <a:spcPts val="0"/>
              </a:spcAft>
              <a:buNone/>
              <a:defRPr sz="1650" b="0">
                <a:solidFill>
                  <a:srgbClr val="F5BA55"/>
                </a:solidFill>
                <a:latin typeface="DejaVu Sans Mono"/>
                <a:ea typeface="DejaVu Sans Mono"/>
                <a:cs typeface="DejaVu Sans Mono"/>
              </a:defRPr>
            </a:pPr>
            <a:r>
              <a:rPr lang="en-US" sz="1700" b="1">
                <a:solidFill>
                  <a:srgbClr val="276C63"/>
                </a:solidFill>
                <a:latin typeface="DejaVu Sans"/>
              </a:rPr>
              <a:t>DESCRIBED BASELINE</a:t>
            </a:r>
          </a:p>
        </p:txBody>
      </p:sp>
      <p:sp>
        <p:nvSpPr>
          <p:cNvPr id="153" name="Rectangle 152">
            <a:extLst>
              <a:ext uri="{FF2B5EF4-FFF2-40B4-BE49-F238E27FC236}">
                <a16:creationId xmlns:a16="http://schemas.microsoft.com/office/drawing/2014/main" id="{48B8F9DC-B4CC-471F-AFAD-2EBEC0DF34DE}"/>
              </a:ext>
            </a:extLst>
          </p:cNvPr>
          <p:cNvSpPr>
            <a:spLocks noGrp="1"/>
          </p:cNvSpPr>
          <p:nvPr/>
        </p:nvSpPr>
        <p:spPr>
          <a:xfrm>
            <a:off x="731520" y="3721608"/>
            <a:ext cx="6629400" cy="2331720"/>
          </a:xfrm>
          <a:prstGeom prst="rect">
            <a:avLst/>
          </a:prstGeom>
          <a:noFill/>
          <a:ln w="0">
            <a:noFill/>
          </a:ln>
        </p:spPr>
        <p:txBody>
          <a:bodyPr wrap="square" lIns="0" tIns="0" rIns="0" bIns="0" anchor="t"/>
          <a:lstStyle/>
          <a:p>
            <a:pPr algn="l">
              <a:lnSpc>
                <a:spcPct val="114000"/>
              </a:lnSpc>
              <a:spcBef>
                <a:spcPts val="0"/>
              </a:spcBef>
              <a:spcAft>
                <a:spcPts val="0"/>
              </a:spcAft>
              <a:buNone/>
              <a:defRPr sz="2025" b="0">
                <a:solidFill>
                  <a:srgbClr val="E8EDF5"/>
                </a:solidFill>
                <a:latin typeface="DejaVu Sans"/>
                <a:ea typeface="DejaVu Sans"/>
                <a:cs typeface="DejaVu Sans"/>
              </a:defRPr>
            </a:pPr>
            <a:r>
              <a:rPr lang="en-GB" sz="2900" b="0">
                <a:solidFill>
                  <a:srgbClr val="202A2B"/>
                </a:solidFill>
                <a:latin typeface="DejaVu Sans"/>
              </a:rPr>
              <a:t>Governed tool execution</a:t>
            </a:r>
          </a:p>
          <a:p>
            <a:pPr algn="l">
              <a:lnSpc>
                <a:spcPct val="114000"/>
              </a:lnSpc>
              <a:spcBef>
                <a:spcPts val="0"/>
              </a:spcBef>
              <a:spcAft>
                <a:spcPts val="0"/>
              </a:spcAft>
              <a:buNone/>
            </a:pPr>
            <a:r>
              <a:rPr lang="en-GB" sz="2900" b="0">
                <a:solidFill>
                  <a:srgbClr val="202A2B"/>
                </a:solidFill>
                <a:latin typeface="DejaVu Sans"/>
              </a:rPr>
              <a:t>Isolated worktrees</a:t>
            </a:r>
          </a:p>
          <a:p>
            <a:pPr algn="l">
              <a:lnSpc>
                <a:spcPct val="114000"/>
              </a:lnSpc>
              <a:spcBef>
                <a:spcPts val="0"/>
              </a:spcBef>
              <a:spcAft>
                <a:spcPts val="0"/>
              </a:spcAft>
              <a:buNone/>
            </a:pPr>
            <a:r>
              <a:rPr lang="en-GB" sz="2900" b="0">
                <a:solidFill>
                  <a:srgbClr val="202A2B"/>
                </a:solidFill>
                <a:latin typeface="DejaVu Sans"/>
              </a:rPr>
              <a:t>Human publication approval</a:t>
            </a:r>
          </a:p>
          <a:p>
            <a:pPr algn="l">
              <a:lnSpc>
                <a:spcPct val="114000"/>
              </a:lnSpc>
              <a:spcBef>
                <a:spcPts val="0"/>
              </a:spcBef>
              <a:spcAft>
                <a:spcPts val="0"/>
              </a:spcAft>
              <a:buNone/>
            </a:pPr>
            <a:r>
              <a:rPr lang="en-GB" sz="2900" b="0">
                <a:solidFill>
                  <a:srgbClr val="202A2B"/>
                </a:solidFill>
                <a:latin typeface="DejaVu Sans"/>
              </a:rPr>
              <a:t>Linked task evidence</a:t>
            </a:r>
          </a:p>
        </p:txBody>
      </p:sp>
      <p:sp>
        <p:nvSpPr>
          <p:cNvPr id="154" name="Rectangle 153">
            <a:extLst>
              <a:ext uri="{FF2B5EF4-FFF2-40B4-BE49-F238E27FC236}">
                <a16:creationId xmlns:a16="http://schemas.microsoft.com/office/drawing/2014/main" id="{092F3BAD-A391-49EC-91CF-C6DF99B14EB4}"/>
              </a:ext>
            </a:extLst>
          </p:cNvPr>
          <p:cNvSpPr>
            <a:spLocks noGrp="1"/>
          </p:cNvSpPr>
          <p:nvPr/>
        </p:nvSpPr>
        <p:spPr>
          <a:xfrm>
            <a:off x="8321040" y="2980944"/>
            <a:ext cx="6172200" cy="365760"/>
          </a:xfrm>
          <a:prstGeom prst="rect">
            <a:avLst/>
          </a:prstGeom>
          <a:noFill/>
          <a:ln w="0">
            <a:noFill/>
          </a:ln>
        </p:spPr>
        <p:txBody>
          <a:bodyPr wrap="square" lIns="0" tIns="0" rIns="0" bIns="0" anchor="t"/>
          <a:lstStyle/>
          <a:p>
            <a:pPr algn="l">
              <a:lnSpc>
                <a:spcPct val="114000"/>
              </a:lnSpc>
              <a:spcBef>
                <a:spcPts val="0"/>
              </a:spcBef>
              <a:spcAft>
                <a:spcPts val="0"/>
              </a:spcAft>
              <a:buNone/>
              <a:defRPr sz="1650" b="0">
                <a:solidFill>
                  <a:srgbClr val="F5BA55"/>
                </a:solidFill>
                <a:latin typeface="DejaVu Sans Mono"/>
                <a:ea typeface="DejaVu Sans Mono"/>
                <a:cs typeface="DejaVu Sans Mono"/>
              </a:defRPr>
            </a:pPr>
            <a:r>
              <a:rPr lang="en-US" sz="1700" b="1">
                <a:solidFill>
                  <a:srgbClr val="276C63"/>
                </a:solidFill>
                <a:latin typeface="DejaVu Sans"/>
              </a:rPr>
              <a:t>ROADMAP / FUTURE WORK</a:t>
            </a:r>
          </a:p>
        </p:txBody>
      </p:sp>
      <p:sp>
        <p:nvSpPr>
          <p:cNvPr id="156" name="Rectangle 155">
            <a:extLst>
              <a:ext uri="{FF2B5EF4-FFF2-40B4-BE49-F238E27FC236}">
                <a16:creationId xmlns:a16="http://schemas.microsoft.com/office/drawing/2014/main" id="{6F879827-B3C1-4290-A4E2-0621FEFEFEDF}"/>
              </a:ext>
            </a:extLst>
          </p:cNvPr>
          <p:cNvSpPr>
            <a:spLocks noGrp="1"/>
          </p:cNvSpPr>
          <p:nvPr/>
        </p:nvSpPr>
        <p:spPr>
          <a:xfrm>
            <a:off x="8321040" y="3721608"/>
            <a:ext cx="6172200" cy="2331720"/>
          </a:xfrm>
          <a:prstGeom prst="rect">
            <a:avLst/>
          </a:prstGeom>
          <a:noFill/>
          <a:ln w="0">
            <a:noFill/>
          </a:ln>
        </p:spPr>
        <p:txBody>
          <a:bodyPr wrap="square" lIns="0" tIns="0" rIns="0" bIns="0" anchor="t"/>
          <a:lstStyle/>
          <a:p>
            <a:pPr algn="l">
              <a:lnSpc>
                <a:spcPct val="114000"/>
              </a:lnSpc>
              <a:spcBef>
                <a:spcPts val="0"/>
              </a:spcBef>
              <a:spcAft>
                <a:spcPts val="0"/>
              </a:spcAft>
              <a:buNone/>
              <a:defRPr sz="2025" b="0">
                <a:solidFill>
                  <a:srgbClr val="E8EDF5"/>
                </a:solidFill>
                <a:latin typeface="DejaVu Sans"/>
                <a:ea typeface="DejaVu Sans"/>
                <a:cs typeface="DejaVu Sans"/>
              </a:defRPr>
            </a:pPr>
            <a:r>
              <a:rPr lang="en-GB" sz="2700" b="0">
                <a:solidFill>
                  <a:srgbClr val="596663"/>
                </a:solidFill>
                <a:latin typeface="DejaVu Sans"/>
              </a:rPr>
              <a:t>Authentication hardening</a:t>
            </a:r>
          </a:p>
          <a:p>
            <a:pPr algn="l">
              <a:lnSpc>
                <a:spcPct val="114000"/>
              </a:lnSpc>
              <a:spcBef>
                <a:spcPts val="0"/>
              </a:spcBef>
              <a:spcAft>
                <a:spcPts val="0"/>
              </a:spcAft>
              <a:buNone/>
            </a:pPr>
            <a:r>
              <a:rPr lang="en-GB" sz="2700" b="0">
                <a:solidFill>
                  <a:srgbClr val="596663"/>
                </a:solidFill>
                <a:latin typeface="DejaVu Sans"/>
              </a:rPr>
              <a:t>Signed evidence</a:t>
            </a:r>
          </a:p>
          <a:p>
            <a:pPr algn="l">
              <a:lnSpc>
                <a:spcPct val="114000"/>
              </a:lnSpc>
              <a:spcBef>
                <a:spcPts val="0"/>
              </a:spcBef>
              <a:spcAft>
                <a:spcPts val="0"/>
              </a:spcAft>
              <a:buNone/>
            </a:pPr>
            <a:r>
              <a:rPr lang="en-GB" sz="2700" b="0">
                <a:solidFill>
                  <a:srgbClr val="596663"/>
                </a:solidFill>
                <a:latin typeface="DejaVu Sans"/>
              </a:rPr>
              <a:t>Team-scale reliability</a:t>
            </a:r>
          </a:p>
          <a:p>
            <a:pPr algn="l">
              <a:lnSpc>
                <a:spcPct val="114000"/>
              </a:lnSpc>
              <a:spcBef>
                <a:spcPts val="0"/>
              </a:spcBef>
              <a:spcAft>
                <a:spcPts val="0"/>
              </a:spcAft>
              <a:buNone/>
            </a:pPr>
            <a:r>
              <a:rPr lang="en-GB" sz="2700" b="0">
                <a:solidFill>
                  <a:srgbClr val="596663"/>
                </a:solidFill>
                <a:latin typeface="DejaVu Sans"/>
              </a:rPr>
              <a:t>Fine-grained authorization</a:t>
            </a:r>
          </a:p>
        </p:txBody>
      </p:sp>
      <p:sp>
        <p:nvSpPr>
          <p:cNvPr id="160" name="Rectangle 159">
            <a:extLst>
              <a:ext uri="{FF2B5EF4-FFF2-40B4-BE49-F238E27FC236}">
                <a16:creationId xmlns:a16="http://schemas.microsoft.com/office/drawing/2014/main" id="{7A16F188-D8AA-4B44-B3D7-3D6A473A8423}"/>
              </a:ext>
            </a:extLst>
          </p:cNvPr>
          <p:cNvSpPr>
            <a:spLocks noGrp="1"/>
          </p:cNvSpPr>
          <p:nvPr/>
        </p:nvSpPr>
        <p:spPr>
          <a:xfrm>
            <a:off x="731520" y="6675120"/>
            <a:ext cx="13624560" cy="731520"/>
          </a:xfrm>
          <a:prstGeom prst="rect">
            <a:avLst/>
          </a:prstGeom>
          <a:noFill/>
          <a:ln w="0">
            <a:noFill/>
          </a:ln>
        </p:spPr>
        <p:txBody>
          <a:bodyPr wrap="square" lIns="0" tIns="0" rIns="0" bIns="0" anchor="t"/>
          <a:lstStyle/>
          <a:p>
            <a:pPr algn="l">
              <a:lnSpc>
                <a:spcPct val="114000"/>
              </a:lnSpc>
              <a:spcBef>
                <a:spcPts val="0"/>
              </a:spcBef>
              <a:spcAft>
                <a:spcPts val="0"/>
              </a:spcAft>
              <a:buNone/>
              <a:defRPr sz="3825" b="1">
                <a:solidFill>
                  <a:srgbClr val="5EEAD4"/>
                </a:solidFill>
                <a:latin typeface="DejaVu Sans"/>
                <a:ea typeface="DejaVu Sans"/>
                <a:cs typeface="DejaVu Sans"/>
              </a:defRPr>
            </a:pPr>
            <a:r>
              <a:rPr lang="en-GB" sz="2700" b="0">
                <a:solidFill>
                  <a:srgbClr val="276C63"/>
                </a:solidFill>
                <a:latin typeface="DejaVu Sans"/>
              </a:rPr>
              <a:t>The pilot must validate the baseline before broader adoption.</a:t>
            </a:r>
          </a:p>
        </p:txBody>
      </p:sp>
    </p:spTree>
    <p:extLst>
      <p:ext uri="{BB962C8B-B14F-4D97-AF65-F5344CB8AC3E}">
        <p14:creationId xmlns:p14="http://schemas.microsoft.com/office/powerpoint/2010/main" val="803410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202A2B"/>
        </a:solidFill>
        <a:effectLst/>
      </p:bgPr>
    </p:bg>
    <p:spTree>
      <p:nvGrpSpPr>
        <p:cNvPr id="1" name=""/>
        <p:cNvGrpSpPr/>
        <p:nvPr/>
      </p:nvGrpSpPr>
      <p:grpSpPr>
        <a:xfrm>
          <a:off x="0" y="0"/>
          <a:ext cx="0" cy="0"/>
          <a:chOff x="0" y="0"/>
          <a:chExt cx="0" cy="0"/>
        </a:xfrm>
      </p:grpSpPr>
      <p:pic>
        <p:nvPicPr>
          <p:cNvPr id="166" name="Picture 165" descr="One contained software experiment with measurement"/>
          <p:cNvPicPr>
            <a:picLocks noChangeAspect="1"/>
          </p:cNvPicPr>
          <p:nvPr/>
        </p:nvPicPr>
        <p:blipFill>
          <a:blip r:embed="rId3"/>
          <a:srcRect/>
          <a:stretch>
            <a:fillRect/>
          </a:stretch>
        </p:blipFill>
        <p:spPr>
          <a:xfrm>
            <a:off x="1234440" y="2834640"/>
            <a:ext cx="4297680" cy="4372525"/>
          </a:xfrm>
          <a:prstGeom prst="rect">
            <a:avLst/>
          </a:prstGeom>
        </p:spPr>
      </p:pic>
      <p:sp>
        <p:nvSpPr>
          <p:cNvPr id="145" name="Rectangle 144">
            <a:extLst>
              <a:ext uri="{FF2B5EF4-FFF2-40B4-BE49-F238E27FC236}">
                <a16:creationId xmlns:a16="http://schemas.microsoft.com/office/drawing/2014/main" id="{AD42ECCF-7D87-429F-9CBC-740C6A2F6213}"/>
              </a:ext>
            </a:extLst>
          </p:cNvPr>
          <p:cNvSpPr>
            <a:spLocks noGrp="1"/>
          </p:cNvSpPr>
          <p:nvPr/>
        </p:nvSpPr>
        <p:spPr>
          <a:xfrm>
            <a:off x="731520" y="438912"/>
            <a:ext cx="11887200" cy="320040"/>
          </a:xfrm>
          <a:prstGeom prst="rect">
            <a:avLst/>
          </a:prstGeom>
          <a:noFill/>
          <a:ln w="0">
            <a:noFill/>
          </a:ln>
        </p:spPr>
        <p:txBody>
          <a:bodyPr wrap="square" lIns="0" tIns="0" rIns="0" bIns="0" anchor="t"/>
          <a:lstStyle/>
          <a:p>
            <a:pPr algn="l">
              <a:lnSpc>
                <a:spcPct val="114000"/>
              </a:lnSpc>
              <a:spcBef>
                <a:spcPts val="0"/>
              </a:spcBef>
              <a:spcAft>
                <a:spcPts val="0"/>
              </a:spcAft>
              <a:buNone/>
              <a:defRPr sz="1275" b="0">
                <a:solidFill>
                  <a:srgbClr val="5EEAD4"/>
                </a:solidFill>
                <a:latin typeface="DejaVu Sans Mono"/>
                <a:ea typeface="DejaVu Sans Mono"/>
                <a:cs typeface="DejaVu Sans Mono"/>
              </a:defRPr>
            </a:pPr>
            <a:r>
              <a:rPr lang="en-US" sz="1300" b="1">
                <a:solidFill>
                  <a:srgbClr val="B8C4BF"/>
                </a:solidFill>
                <a:latin typeface="DejaVu Sans"/>
              </a:rPr>
              <a:t>AUTODEV</a:t>
            </a:r>
          </a:p>
        </p:txBody>
      </p:sp>
      <p:sp>
        <p:nvSpPr>
          <p:cNvPr id="146" name="Rectangle 145">
            <a:extLst>
              <a:ext uri="{FF2B5EF4-FFF2-40B4-BE49-F238E27FC236}">
                <a16:creationId xmlns:a16="http://schemas.microsoft.com/office/drawing/2014/main" id="{2F518EC7-795C-489E-814F-3D755C79B1EB}"/>
              </a:ext>
            </a:extLst>
          </p:cNvPr>
          <p:cNvSpPr>
            <a:spLocks noGrp="1"/>
          </p:cNvSpPr>
          <p:nvPr/>
        </p:nvSpPr>
        <p:spPr>
          <a:xfrm>
            <a:off x="731520" y="1051560"/>
            <a:ext cx="13533120" cy="1554480"/>
          </a:xfrm>
          <a:prstGeom prst="rect">
            <a:avLst/>
          </a:prstGeom>
          <a:noFill/>
          <a:ln w="0">
            <a:noFill/>
          </a:ln>
        </p:spPr>
        <p:txBody>
          <a:bodyPr wrap="square" lIns="0" tIns="0" rIns="0" bIns="0" anchor="t"/>
          <a:lstStyle/>
          <a:p>
            <a:pPr algn="l">
              <a:lnSpc>
                <a:spcPct val="114000"/>
              </a:lnSpc>
              <a:spcBef>
                <a:spcPts val="0"/>
              </a:spcBef>
              <a:spcAft>
                <a:spcPts val="0"/>
              </a:spcAft>
              <a:buNone/>
              <a:defRPr sz="3600" b="1">
                <a:solidFill>
                  <a:srgbClr val="E8EDF5"/>
                </a:solidFill>
                <a:latin typeface="DejaVu Sans"/>
                <a:ea typeface="DejaVu Sans"/>
                <a:cs typeface="DejaVu Sans"/>
              </a:defRPr>
            </a:pPr>
            <a:r>
              <a:rPr lang="en-GB" sz="4600" b="1">
                <a:solidFill>
                  <a:srgbClr val="F7F5EF"/>
                </a:solidFill>
                <a:latin typeface="DejaVu Sans"/>
              </a:rPr>
              <a:t>A four-week pilot</a:t>
            </a:r>
          </a:p>
          <a:p>
            <a:pPr algn="l">
              <a:lnSpc>
                <a:spcPct val="114000"/>
              </a:lnSpc>
              <a:spcBef>
                <a:spcPts val="0"/>
              </a:spcBef>
              <a:spcAft>
                <a:spcPts val="0"/>
              </a:spcAft>
              <a:buNone/>
            </a:pPr>
            <a:r>
              <a:rPr lang="en-GB" sz="4600" b="1">
                <a:solidFill>
                  <a:srgbClr val="F7F5EF"/>
                </a:solidFill>
                <a:latin typeface="DejaVu Sans"/>
              </a:rPr>
              <a:t>can test the value</a:t>
            </a:r>
          </a:p>
        </p:txBody>
      </p:sp>
      <p:sp>
        <p:nvSpPr>
          <p:cNvPr id="148" name="Rectangle 147">
            <a:extLst>
              <a:ext uri="{FF2B5EF4-FFF2-40B4-BE49-F238E27FC236}">
                <a16:creationId xmlns:a16="http://schemas.microsoft.com/office/drawing/2014/main" id="{EB271411-6343-4213-AEBA-8DFE557968EB}"/>
              </a:ext>
            </a:extLst>
          </p:cNvPr>
          <p:cNvSpPr>
            <a:spLocks noGrp="1"/>
          </p:cNvSpPr>
          <p:nvPr/>
        </p:nvSpPr>
        <p:spPr>
          <a:xfrm>
            <a:off x="731520" y="7360920"/>
            <a:ext cx="13533120" cy="548640"/>
          </a:xfrm>
          <a:prstGeom prst="rect">
            <a:avLst/>
          </a:prstGeom>
          <a:noFill/>
          <a:ln w="0">
            <a:noFill/>
          </a:ln>
        </p:spPr>
        <p:txBody>
          <a:bodyPr wrap="square" lIns="0" tIns="0" rIns="0" bIns="0" anchor="t"/>
          <a:lstStyle/>
          <a:p>
            <a:pPr algn="l">
              <a:lnSpc>
                <a:spcPct val="114000"/>
              </a:lnSpc>
              <a:spcBef>
                <a:spcPts val="0"/>
              </a:spcBef>
              <a:spcAft>
                <a:spcPts val="0"/>
              </a:spcAft>
              <a:buNone/>
              <a:defRPr sz="1725" b="0">
                <a:solidFill>
                  <a:srgbClr val="5EEAD4"/>
                </a:solidFill>
                <a:latin typeface="DejaVu Sans"/>
                <a:ea typeface="DejaVu Sans"/>
                <a:cs typeface="DejaVu Sans"/>
              </a:defRPr>
            </a:pPr>
            <a:r>
              <a:rPr lang="en-GB" sz="2300" b="0">
                <a:solidFill>
                  <a:srgbClr val="B8C4BF"/>
                </a:solidFill>
                <a:latin typeface="DejaVu Sans"/>
              </a:rPr>
              <a:t>Measure accepted changes, review effort, quality and cost.</a:t>
            </a:r>
          </a:p>
        </p:txBody>
      </p:sp>
      <p:sp>
        <p:nvSpPr>
          <p:cNvPr id="149" name="Rectangle 148">
            <a:extLst>
              <a:ext uri="{FF2B5EF4-FFF2-40B4-BE49-F238E27FC236}">
                <a16:creationId xmlns:a16="http://schemas.microsoft.com/office/drawing/2014/main" id="{D43D6F25-8565-47BB-878B-E0816709BA6F}"/>
              </a:ext>
            </a:extLst>
          </p:cNvPr>
          <p:cNvSpPr>
            <a:spLocks noGrp="1"/>
          </p:cNvSpPr>
          <p:nvPr/>
        </p:nvSpPr>
        <p:spPr>
          <a:xfrm>
            <a:off x="731520" y="8001000"/>
            <a:ext cx="12984480" cy="320040"/>
          </a:xfrm>
          <a:prstGeom prst="rect">
            <a:avLst/>
          </a:prstGeom>
          <a:noFill/>
          <a:ln w="0">
            <a:noFill/>
          </a:ln>
        </p:spPr>
        <p:txBody>
          <a:bodyPr wrap="square" lIns="0" tIns="0" rIns="0" bIns="0" anchor="t"/>
          <a:lstStyle/>
          <a:p>
            <a:pPr algn="l">
              <a:lnSpc>
                <a:spcPct val="114000"/>
              </a:lnSpc>
              <a:spcBef>
                <a:spcPts val="0"/>
              </a:spcBef>
              <a:spcAft>
                <a:spcPts val="0"/>
              </a:spcAft>
              <a:buNone/>
              <a:defRPr sz="1050" b="0">
                <a:solidFill>
                  <a:srgbClr val="8491A7"/>
                </a:solidFill>
                <a:latin typeface="DejaVu Sans Mono"/>
                <a:ea typeface="DejaVu Sans Mono"/>
                <a:cs typeface="DejaVu Sans Mono"/>
              </a:defRPr>
            </a:pPr>
            <a:r>
              <a:rPr lang="en-GB" sz="1200" b="0">
                <a:solidFill>
                  <a:srgbClr val="B8C4BF"/>
                </a:solidFill>
                <a:latin typeface="DejaVu Sans"/>
              </a:rPr>
              <a:t>Proposed pilot. Set thresholds in advance. No performance improvement is assumed.</a:t>
            </a:r>
          </a:p>
        </p:txBody>
      </p:sp>
      <p:sp>
        <p:nvSpPr>
          <p:cNvPr id="150" name="Rectangle 149">
            <a:extLst>
              <a:ext uri="{FF2B5EF4-FFF2-40B4-BE49-F238E27FC236}">
                <a16:creationId xmlns:a16="http://schemas.microsoft.com/office/drawing/2014/main" id="{FEBABFCE-6BB9-4A06-9098-81F48EFD6351}"/>
              </a:ext>
            </a:extLst>
          </p:cNvPr>
          <p:cNvSpPr>
            <a:spLocks noGrp="1"/>
          </p:cNvSpPr>
          <p:nvPr/>
        </p:nvSpPr>
        <p:spPr>
          <a:xfrm>
            <a:off x="13807440" y="7936992"/>
            <a:ext cx="640080" cy="292608"/>
          </a:xfrm>
          <a:prstGeom prst="rect">
            <a:avLst/>
          </a:prstGeom>
          <a:noFill/>
          <a:ln w="0">
            <a:noFill/>
          </a:ln>
        </p:spPr>
        <p:txBody>
          <a:bodyPr wrap="square" lIns="0" tIns="0" rIns="0" bIns="0" anchor="t"/>
          <a:lstStyle/>
          <a:p>
            <a:pPr algn="l">
              <a:lnSpc>
                <a:spcPct val="114000"/>
              </a:lnSpc>
              <a:spcBef>
                <a:spcPts val="0"/>
              </a:spcBef>
              <a:spcAft>
                <a:spcPts val="0"/>
              </a:spcAft>
              <a:buNone/>
              <a:defRPr sz="1200" b="0">
                <a:solidFill>
                  <a:srgbClr val="8491A7"/>
                </a:solidFill>
                <a:latin typeface="DejaVu Sans Mono"/>
                <a:ea typeface="DejaVu Sans Mono"/>
                <a:cs typeface="DejaVu Sans Mono"/>
              </a:defRPr>
            </a:pPr>
            <a:r>
              <a:rPr lang="en-NL" sz="1200" b="0">
                <a:solidFill>
                  <a:srgbClr val="B8C4BF"/>
                </a:solidFill>
                <a:latin typeface="DejaVu Sans"/>
              </a:rPr>
              <a:t>06</a:t>
            </a:r>
          </a:p>
        </p:txBody>
      </p:sp>
      <p:sp>
        <p:nvSpPr>
          <p:cNvPr id="151" name="Rectangle 150">
            <a:extLst>
              <a:ext uri="{FF2B5EF4-FFF2-40B4-BE49-F238E27FC236}">
                <a16:creationId xmlns:a16="http://schemas.microsoft.com/office/drawing/2014/main" id="{679D2332-4BFD-4B39-9F6F-35EEE84680E0}"/>
              </a:ext>
            </a:extLst>
          </p:cNvPr>
          <p:cNvSpPr>
            <a:spLocks noGrp="1"/>
          </p:cNvSpPr>
          <p:nvPr/>
        </p:nvSpPr>
        <p:spPr>
          <a:xfrm>
            <a:off x="7955279" y="4526280"/>
            <a:ext cx="6492240" cy="548640"/>
          </a:xfrm>
          <a:prstGeom prst="rect">
            <a:avLst/>
          </a:prstGeom>
          <a:noFill/>
          <a:ln w="0">
            <a:noFill/>
          </a:ln>
        </p:spPr>
        <p:txBody>
          <a:bodyPr wrap="square" lIns="0" tIns="0" rIns="0" bIns="0" anchor="t"/>
          <a:lstStyle/>
          <a:p>
            <a:pPr algn="l">
              <a:lnSpc>
                <a:spcPct val="114000"/>
              </a:lnSpc>
              <a:spcBef>
                <a:spcPts val="0"/>
              </a:spcBef>
              <a:spcAft>
                <a:spcPts val="0"/>
              </a:spcAft>
              <a:buNone/>
              <a:defRPr sz="1575" b="0">
                <a:solidFill>
                  <a:srgbClr val="F5BA55"/>
                </a:solidFill>
                <a:latin typeface="DejaVu Sans Mono"/>
                <a:ea typeface="DejaVu Sans Mono"/>
                <a:cs typeface="DejaVu Sans Mono"/>
              </a:defRPr>
            </a:pPr>
            <a:r>
              <a:rPr lang="en-GB" sz="2200" b="0">
                <a:solidFill>
                  <a:srgbClr val="F7F5EF"/>
                </a:solidFill>
                <a:latin typeface="DejaVu Sans"/>
              </a:rPr>
              <a:t>01   Select the task and baseline</a:t>
            </a:r>
          </a:p>
        </p:txBody>
      </p:sp>
      <p:sp>
        <p:nvSpPr>
          <p:cNvPr id="154" name="Rectangle 153">
            <a:extLst>
              <a:ext uri="{FF2B5EF4-FFF2-40B4-BE49-F238E27FC236}">
                <a16:creationId xmlns:a16="http://schemas.microsoft.com/office/drawing/2014/main" id="{5EE32B47-262D-4C70-B6D5-6CF56FE17A33}"/>
              </a:ext>
            </a:extLst>
          </p:cNvPr>
          <p:cNvSpPr>
            <a:spLocks noGrp="1"/>
          </p:cNvSpPr>
          <p:nvPr/>
        </p:nvSpPr>
        <p:spPr>
          <a:xfrm>
            <a:off x="7955279" y="5166360"/>
            <a:ext cx="6492240" cy="548640"/>
          </a:xfrm>
          <a:prstGeom prst="rect">
            <a:avLst/>
          </a:prstGeom>
          <a:noFill/>
          <a:ln w="0">
            <a:noFill/>
          </a:ln>
        </p:spPr>
        <p:txBody>
          <a:bodyPr wrap="square" lIns="0" tIns="0" rIns="0" bIns="0" anchor="t"/>
          <a:lstStyle/>
          <a:p>
            <a:pPr algn="l">
              <a:lnSpc>
                <a:spcPct val="114000"/>
              </a:lnSpc>
              <a:spcBef>
                <a:spcPts val="0"/>
              </a:spcBef>
              <a:spcAft>
                <a:spcPts val="0"/>
              </a:spcAft>
              <a:buNone/>
              <a:defRPr sz="1575" b="0">
                <a:solidFill>
                  <a:srgbClr val="F5BA55"/>
                </a:solidFill>
                <a:latin typeface="DejaVu Sans Mono"/>
                <a:ea typeface="DejaVu Sans Mono"/>
                <a:cs typeface="DejaVu Sans Mono"/>
              </a:defRPr>
            </a:pPr>
            <a:r>
              <a:rPr lang="en-GB" sz="2200" b="0">
                <a:solidFill>
                  <a:srgbClr val="F7F5EF"/>
                </a:solidFill>
                <a:latin typeface="DejaVu Sans"/>
              </a:rPr>
              <a:t>02   Configure policy and evaluation</a:t>
            </a:r>
          </a:p>
        </p:txBody>
      </p:sp>
      <p:sp>
        <p:nvSpPr>
          <p:cNvPr id="157" name="Rectangle 156">
            <a:extLst>
              <a:ext uri="{FF2B5EF4-FFF2-40B4-BE49-F238E27FC236}">
                <a16:creationId xmlns:a16="http://schemas.microsoft.com/office/drawing/2014/main" id="{8731B01C-1120-4022-8D4D-D8D8850BCC8D}"/>
              </a:ext>
            </a:extLst>
          </p:cNvPr>
          <p:cNvSpPr>
            <a:spLocks noGrp="1"/>
          </p:cNvSpPr>
          <p:nvPr/>
        </p:nvSpPr>
        <p:spPr>
          <a:xfrm>
            <a:off x="7955279" y="5806440"/>
            <a:ext cx="6492240" cy="548640"/>
          </a:xfrm>
          <a:prstGeom prst="rect">
            <a:avLst/>
          </a:prstGeom>
          <a:noFill/>
          <a:ln w="0">
            <a:noFill/>
          </a:ln>
        </p:spPr>
        <p:txBody>
          <a:bodyPr wrap="square" lIns="0" tIns="0" rIns="0" bIns="0" anchor="t"/>
          <a:lstStyle/>
          <a:p>
            <a:pPr algn="l">
              <a:lnSpc>
                <a:spcPct val="114000"/>
              </a:lnSpc>
              <a:spcBef>
                <a:spcPts val="0"/>
              </a:spcBef>
              <a:spcAft>
                <a:spcPts val="0"/>
              </a:spcAft>
              <a:buNone/>
              <a:defRPr sz="1575" b="0">
                <a:solidFill>
                  <a:srgbClr val="F5BA55"/>
                </a:solidFill>
                <a:latin typeface="DejaVu Sans Mono"/>
                <a:ea typeface="DejaVu Sans Mono"/>
                <a:cs typeface="DejaVu Sans Mono"/>
              </a:defRPr>
            </a:pPr>
            <a:r>
              <a:rPr lang="en-GB" sz="2200" b="0">
                <a:solidFill>
                  <a:srgbClr val="F7F5EF"/>
                </a:solidFill>
                <a:latin typeface="DejaVu Sans"/>
              </a:rPr>
              <a:t>03   Run with publication approval</a:t>
            </a:r>
          </a:p>
        </p:txBody>
      </p:sp>
      <p:sp>
        <p:nvSpPr>
          <p:cNvPr id="160" name="Rectangle 159">
            <a:extLst>
              <a:ext uri="{FF2B5EF4-FFF2-40B4-BE49-F238E27FC236}">
                <a16:creationId xmlns:a16="http://schemas.microsoft.com/office/drawing/2014/main" id="{080782CC-D49F-46D9-B530-8B1B4FF3B011}"/>
              </a:ext>
            </a:extLst>
          </p:cNvPr>
          <p:cNvSpPr>
            <a:spLocks noGrp="1"/>
          </p:cNvSpPr>
          <p:nvPr/>
        </p:nvSpPr>
        <p:spPr>
          <a:xfrm>
            <a:off x="7955279" y="6446520"/>
            <a:ext cx="6492240" cy="548640"/>
          </a:xfrm>
          <a:prstGeom prst="rect">
            <a:avLst/>
          </a:prstGeom>
          <a:noFill/>
          <a:ln w="0">
            <a:noFill/>
          </a:ln>
        </p:spPr>
        <p:txBody>
          <a:bodyPr wrap="square" lIns="0" tIns="0" rIns="0" bIns="0" anchor="t"/>
          <a:lstStyle/>
          <a:p>
            <a:pPr algn="l">
              <a:lnSpc>
                <a:spcPct val="114000"/>
              </a:lnSpc>
              <a:spcBef>
                <a:spcPts val="0"/>
              </a:spcBef>
              <a:spcAft>
                <a:spcPts val="0"/>
              </a:spcAft>
              <a:buNone/>
              <a:defRPr sz="1575" b="0">
                <a:solidFill>
                  <a:srgbClr val="F5BA55"/>
                </a:solidFill>
                <a:latin typeface="DejaVu Sans Mono"/>
                <a:ea typeface="DejaVu Sans Mono"/>
                <a:cs typeface="DejaVu Sans Mono"/>
              </a:defRPr>
            </a:pPr>
            <a:r>
              <a:rPr lang="en-GB" sz="2200" b="0">
                <a:solidFill>
                  <a:srgbClr val="F7F5EF"/>
                </a:solidFill>
                <a:latin typeface="DejaVu Sans"/>
              </a:rPr>
              <a:t>04   Review results and decide</a:t>
            </a:r>
          </a:p>
        </p:txBody>
      </p:sp>
      <p:sp>
        <p:nvSpPr>
          <p:cNvPr id="164" name="Rectangle 163">
            <a:extLst>
              <a:ext uri="{FF2B5EF4-FFF2-40B4-BE49-F238E27FC236}">
                <a16:creationId xmlns:a16="http://schemas.microsoft.com/office/drawing/2014/main" id="{1D795FF0-1838-4BC5-A2CC-8EF7700DD429}"/>
              </a:ext>
            </a:extLst>
          </p:cNvPr>
          <p:cNvSpPr>
            <a:spLocks noGrp="1"/>
          </p:cNvSpPr>
          <p:nvPr/>
        </p:nvSpPr>
        <p:spPr>
          <a:xfrm>
            <a:off x="7955279" y="2788920"/>
            <a:ext cx="6537960" cy="868680"/>
          </a:xfrm>
          <a:prstGeom prst="rect">
            <a:avLst/>
          </a:prstGeom>
          <a:noFill/>
          <a:ln w="0">
            <a:noFill/>
          </a:ln>
        </p:spPr>
        <p:txBody>
          <a:bodyPr wrap="square" lIns="0" tIns="0" rIns="0" bIns="0" anchor="t"/>
          <a:lstStyle/>
          <a:p>
            <a:pPr algn="l">
              <a:lnSpc>
                <a:spcPct val="114000"/>
              </a:lnSpc>
              <a:spcBef>
                <a:spcPts val="0"/>
              </a:spcBef>
              <a:spcAft>
                <a:spcPts val="0"/>
              </a:spcAft>
              <a:buNone/>
              <a:defRPr sz="2025" b="0">
                <a:solidFill>
                  <a:srgbClr val="E8EDF5"/>
                </a:solidFill>
                <a:latin typeface="DejaVu Sans"/>
                <a:ea typeface="DejaVu Sans"/>
                <a:cs typeface="DejaVu Sans"/>
              </a:defRPr>
            </a:pPr>
            <a:r>
              <a:rPr lang="en-US" sz="2900" b="0">
                <a:solidFill>
                  <a:srgbClr val="F7F5EF"/>
                </a:solidFill>
                <a:latin typeface="DejaVu Sans"/>
              </a:rPr>
              <a:t>One bounded engineering workflow</a:t>
            </a:r>
          </a:p>
        </p:txBody>
      </p:sp>
      <p:sp>
        <p:nvSpPr>
          <p:cNvPr id="165" name="Rectangle 164">
            <a:extLst>
              <a:ext uri="{FF2B5EF4-FFF2-40B4-BE49-F238E27FC236}">
                <a16:creationId xmlns:a16="http://schemas.microsoft.com/office/drawing/2014/main" id="{EF180E89-0598-4175-9869-870029EADAD5}"/>
              </a:ext>
            </a:extLst>
          </p:cNvPr>
          <p:cNvSpPr>
            <a:spLocks noGrp="1"/>
          </p:cNvSpPr>
          <p:nvPr/>
        </p:nvSpPr>
        <p:spPr>
          <a:xfrm>
            <a:off x="7955279" y="3712463"/>
            <a:ext cx="6537960" cy="548640"/>
          </a:xfrm>
          <a:prstGeom prst="rect">
            <a:avLst/>
          </a:prstGeom>
          <a:noFill/>
          <a:ln w="0">
            <a:noFill/>
          </a:ln>
        </p:spPr>
        <p:txBody>
          <a:bodyPr wrap="square" lIns="0" tIns="0" rIns="0" bIns="0" anchor="t"/>
          <a:lstStyle/>
          <a:p>
            <a:pPr algn="l">
              <a:lnSpc>
                <a:spcPct val="114000"/>
              </a:lnSpc>
              <a:spcBef>
                <a:spcPts val="0"/>
              </a:spcBef>
              <a:spcAft>
                <a:spcPts val="0"/>
              </a:spcAft>
              <a:buNone/>
              <a:defRPr sz="1425" b="0">
                <a:solidFill>
                  <a:srgbClr val="9AA7B9"/>
                </a:solidFill>
                <a:latin typeface="DejaVu Sans Mono"/>
                <a:ea typeface="DejaVu Sans Mono"/>
                <a:cs typeface="DejaVu Sans Mono"/>
              </a:defRPr>
            </a:pPr>
            <a:r>
              <a:rPr lang="en-US" sz="2000" b="0">
                <a:solidFill>
                  <a:srgbClr val="B8C4BF"/>
                </a:solidFill>
                <a:latin typeface="DejaVu Sans"/>
              </a:rPr>
              <a:t>For example, dependency updates.</a:t>
            </a:r>
          </a:p>
        </p:txBody>
      </p:sp>
    </p:spTree>
    <p:extLst>
      <p:ext uri="{BB962C8B-B14F-4D97-AF65-F5344CB8AC3E}">
        <p14:creationId xmlns:p14="http://schemas.microsoft.com/office/powerpoint/2010/main" val="467813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show="0">
  <p:cSld>
    <p:bg>
      <p:bgPr>
        <a:solidFill>
          <a:srgbClr val="F7F5EF"/>
        </a:solidFill>
        <a:effectLst/>
      </p:bgPr>
    </p:bg>
    <p:spTree>
      <p:nvGrpSpPr>
        <p:cNvPr id="1" name=""/>
        <p:cNvGrpSpPr/>
        <p:nvPr/>
      </p:nvGrpSpPr>
      <p:grpSpPr>
        <a:xfrm>
          <a:off x="0" y="0"/>
          <a:ext cx="0" cy="0"/>
          <a:chOff x="0" y="0"/>
          <a:chExt cx="0" cy="0"/>
        </a:xfrm>
      </p:grpSpPr>
      <p:sp>
        <p:nvSpPr>
          <p:cNvPr id="145" name="Rectangle 144">
            <a:extLst>
              <a:ext uri="{FF2B5EF4-FFF2-40B4-BE49-F238E27FC236}">
                <a16:creationId xmlns:a16="http://schemas.microsoft.com/office/drawing/2014/main" id="{D3215D68-E146-478F-B5F2-59F841EE73FA}"/>
              </a:ext>
            </a:extLst>
          </p:cNvPr>
          <p:cNvSpPr>
            <a:spLocks noGrp="1"/>
          </p:cNvSpPr>
          <p:nvPr/>
        </p:nvSpPr>
        <p:spPr>
          <a:xfrm>
            <a:off x="731520" y="438912"/>
            <a:ext cx="11887200" cy="320040"/>
          </a:xfrm>
          <a:prstGeom prst="rect">
            <a:avLst/>
          </a:prstGeom>
          <a:noFill/>
          <a:ln w="0">
            <a:noFill/>
          </a:ln>
        </p:spPr>
        <p:txBody>
          <a:bodyPr wrap="square" lIns="0" tIns="0" rIns="0" bIns="0" anchor="t"/>
          <a:lstStyle/>
          <a:p>
            <a:pPr algn="l">
              <a:lnSpc>
                <a:spcPct val="114000"/>
              </a:lnSpc>
              <a:spcBef>
                <a:spcPts val="0"/>
              </a:spcBef>
              <a:spcAft>
                <a:spcPts val="0"/>
              </a:spcAft>
              <a:buNone/>
              <a:defRPr sz="1275" b="0">
                <a:solidFill>
                  <a:srgbClr val="5EEAD4"/>
                </a:solidFill>
                <a:latin typeface="DejaVu Sans Mono"/>
                <a:ea typeface="DejaVu Sans Mono"/>
                <a:cs typeface="DejaVu Sans Mono"/>
              </a:defRPr>
            </a:pPr>
            <a:r>
              <a:rPr lang="en-US" sz="1300" b="1">
                <a:solidFill>
                  <a:srgbClr val="276C63"/>
                </a:solidFill>
                <a:latin typeface="DejaVu Sans"/>
              </a:rPr>
              <a:t>AUTODEV  /  TECHNICAL BACKUP</a:t>
            </a:r>
          </a:p>
        </p:txBody>
      </p:sp>
      <p:sp>
        <p:nvSpPr>
          <p:cNvPr id="146" name="Rectangle 145">
            <a:extLst>
              <a:ext uri="{FF2B5EF4-FFF2-40B4-BE49-F238E27FC236}">
                <a16:creationId xmlns:a16="http://schemas.microsoft.com/office/drawing/2014/main" id="{A673B240-2963-4BE5-AD0B-4AAF3ECBDA6B}"/>
              </a:ext>
            </a:extLst>
          </p:cNvPr>
          <p:cNvSpPr>
            <a:spLocks noGrp="1"/>
          </p:cNvSpPr>
          <p:nvPr/>
        </p:nvSpPr>
        <p:spPr>
          <a:xfrm>
            <a:off x="731520" y="1051560"/>
            <a:ext cx="13716000" cy="1417320"/>
          </a:xfrm>
          <a:prstGeom prst="rect">
            <a:avLst/>
          </a:prstGeom>
          <a:noFill/>
          <a:ln w="0">
            <a:noFill/>
          </a:ln>
        </p:spPr>
        <p:txBody>
          <a:bodyPr wrap="square" lIns="0" tIns="0" rIns="0" bIns="0" anchor="t"/>
          <a:lstStyle/>
          <a:p>
            <a:pPr algn="l">
              <a:lnSpc>
                <a:spcPct val="114000"/>
              </a:lnSpc>
              <a:spcBef>
                <a:spcPts val="0"/>
              </a:spcBef>
              <a:spcAft>
                <a:spcPts val="0"/>
              </a:spcAft>
              <a:buNone/>
              <a:defRPr sz="3600" b="1">
                <a:solidFill>
                  <a:srgbClr val="E8EDF5"/>
                </a:solidFill>
                <a:latin typeface="DejaVu Sans"/>
                <a:ea typeface="DejaVu Sans"/>
                <a:cs typeface="DejaVu Sans"/>
              </a:defRPr>
            </a:pPr>
            <a:r>
              <a:rPr lang="en-US" sz="4000" b="1">
                <a:solidFill>
                  <a:srgbClr val="202A2B"/>
                </a:solidFill>
                <a:latin typeface="DejaVu Sans"/>
              </a:rPr>
              <a:t>Control-plane architecture</a:t>
            </a:r>
          </a:p>
        </p:txBody>
      </p:sp>
      <p:sp>
        <p:nvSpPr>
          <p:cNvPr id="149" name="Rectangle 148">
            <a:extLst>
              <a:ext uri="{FF2B5EF4-FFF2-40B4-BE49-F238E27FC236}">
                <a16:creationId xmlns:a16="http://schemas.microsoft.com/office/drawing/2014/main" id="{02BB210A-8CA6-443E-BC24-62374EEE8C8B}"/>
              </a:ext>
            </a:extLst>
          </p:cNvPr>
          <p:cNvSpPr>
            <a:spLocks noGrp="1"/>
          </p:cNvSpPr>
          <p:nvPr/>
        </p:nvSpPr>
        <p:spPr>
          <a:xfrm>
            <a:off x="731520" y="7936992"/>
            <a:ext cx="12984480" cy="320040"/>
          </a:xfrm>
          <a:prstGeom prst="rect">
            <a:avLst/>
          </a:prstGeom>
          <a:noFill/>
          <a:ln w="0">
            <a:noFill/>
          </a:ln>
        </p:spPr>
        <p:txBody>
          <a:bodyPr wrap="square" lIns="0" tIns="0" rIns="0" bIns="0" anchor="t"/>
          <a:lstStyle/>
          <a:p>
            <a:pPr algn="l">
              <a:lnSpc>
                <a:spcPct val="114000"/>
              </a:lnSpc>
              <a:spcBef>
                <a:spcPts val="0"/>
              </a:spcBef>
              <a:spcAft>
                <a:spcPts val="0"/>
              </a:spcAft>
              <a:buNone/>
              <a:defRPr sz="1050" b="0">
                <a:solidFill>
                  <a:srgbClr val="8491A7"/>
                </a:solidFill>
                <a:latin typeface="DejaVu Sans Mono"/>
                <a:ea typeface="DejaVu Sans Mono"/>
                <a:cs typeface="DejaVu Sans Mono"/>
              </a:defRPr>
            </a:pPr>
            <a:r>
              <a:rPr lang="en-US" sz="1300" b="0">
                <a:solidFill>
                  <a:srgbClr val="596663"/>
                </a:solidFill>
                <a:latin typeface="DejaVu Sans"/>
              </a:rPr>
              <a:t>Provisional architecture. External infrastructure and integrations require verification.</a:t>
            </a:r>
          </a:p>
        </p:txBody>
      </p:sp>
      <p:sp>
        <p:nvSpPr>
          <p:cNvPr id="150" name="Rectangle 149">
            <a:extLst>
              <a:ext uri="{FF2B5EF4-FFF2-40B4-BE49-F238E27FC236}">
                <a16:creationId xmlns:a16="http://schemas.microsoft.com/office/drawing/2014/main" id="{362D3D3B-47DF-48DA-A08A-430FA1F09D4C}"/>
              </a:ext>
            </a:extLst>
          </p:cNvPr>
          <p:cNvSpPr>
            <a:spLocks noGrp="1"/>
          </p:cNvSpPr>
          <p:nvPr/>
        </p:nvSpPr>
        <p:spPr>
          <a:xfrm>
            <a:off x="13807440" y="7936992"/>
            <a:ext cx="640080" cy="292608"/>
          </a:xfrm>
          <a:prstGeom prst="rect">
            <a:avLst/>
          </a:prstGeom>
          <a:noFill/>
          <a:ln w="0">
            <a:noFill/>
          </a:ln>
        </p:spPr>
        <p:txBody>
          <a:bodyPr wrap="square" lIns="0" tIns="0" rIns="0" bIns="0" anchor="t"/>
          <a:lstStyle/>
          <a:p>
            <a:pPr algn="l">
              <a:lnSpc>
                <a:spcPct val="114000"/>
              </a:lnSpc>
              <a:spcBef>
                <a:spcPts val="0"/>
              </a:spcBef>
              <a:spcAft>
                <a:spcPts val="0"/>
              </a:spcAft>
              <a:buNone/>
              <a:defRPr sz="1200" b="0">
                <a:solidFill>
                  <a:srgbClr val="8491A7"/>
                </a:solidFill>
                <a:latin typeface="DejaVu Sans Mono"/>
                <a:ea typeface="DejaVu Sans Mono"/>
                <a:cs typeface="DejaVu Sans Mono"/>
              </a:defRPr>
            </a:pPr>
            <a:r>
              <a:rPr lang="en-NL" sz="1200" b="0">
                <a:solidFill>
                  <a:srgbClr val="596663"/>
                </a:solidFill>
                <a:latin typeface="DejaVu Sans"/>
              </a:rPr>
              <a:t>07</a:t>
            </a:r>
          </a:p>
        </p:txBody>
      </p:sp>
      <p:sp>
        <p:nvSpPr>
          <p:cNvPr id="157" name="Rectangle 156">
            <a:extLst>
              <a:ext uri="{FF2B5EF4-FFF2-40B4-BE49-F238E27FC236}">
                <a16:creationId xmlns:a16="http://schemas.microsoft.com/office/drawing/2014/main" id="{DDD890A0-1C32-48F5-AE11-6DFFDB695321}"/>
              </a:ext>
            </a:extLst>
          </p:cNvPr>
          <p:cNvSpPr>
            <a:spLocks noGrp="1"/>
          </p:cNvSpPr>
          <p:nvPr/>
        </p:nvSpPr>
        <p:spPr>
          <a:xfrm>
            <a:off x="731520" y="2788920"/>
            <a:ext cx="2926080" cy="594360"/>
          </a:xfrm>
          <a:prstGeom prst="rect">
            <a:avLst/>
          </a:prstGeom>
          <a:noFill/>
          <a:ln w="0">
            <a:noFill/>
          </a:ln>
        </p:spPr>
        <p:txBody>
          <a:bodyPr wrap="square" lIns="0" tIns="0" rIns="0" bIns="0" anchor="t"/>
          <a:lstStyle/>
          <a:p>
            <a:pPr algn="l">
              <a:lnSpc>
                <a:spcPct val="114000"/>
              </a:lnSpc>
              <a:spcBef>
                <a:spcPts val="0"/>
              </a:spcBef>
              <a:spcAft>
                <a:spcPts val="0"/>
              </a:spcAft>
              <a:buNone/>
              <a:defRPr sz="1425" b="0">
                <a:solidFill>
                  <a:srgbClr val="5EEAD4"/>
                </a:solidFill>
                <a:latin typeface="DejaVu Sans Mono"/>
                <a:ea typeface="DejaVu Sans Mono"/>
                <a:cs typeface="DejaVu Sans Mono"/>
              </a:defRPr>
            </a:pPr>
            <a:r>
              <a:rPr lang="en-US" sz="2600" b="1">
                <a:solidFill>
                  <a:srgbClr val="276C63"/>
                </a:solidFill>
                <a:latin typeface="DejaVu Sans"/>
              </a:rPr>
              <a:t>Access</a:t>
            </a:r>
          </a:p>
        </p:txBody>
      </p:sp>
      <p:sp>
        <p:nvSpPr>
          <p:cNvPr id="159" name="Rectangle 158">
            <a:extLst>
              <a:ext uri="{FF2B5EF4-FFF2-40B4-BE49-F238E27FC236}">
                <a16:creationId xmlns:a16="http://schemas.microsoft.com/office/drawing/2014/main" id="{D490561C-A88F-49D5-8886-5E890FE15FBE}"/>
              </a:ext>
            </a:extLst>
          </p:cNvPr>
          <p:cNvSpPr>
            <a:spLocks noGrp="1"/>
          </p:cNvSpPr>
          <p:nvPr/>
        </p:nvSpPr>
        <p:spPr>
          <a:xfrm>
            <a:off x="4023360" y="2788920"/>
            <a:ext cx="10287000" cy="822960"/>
          </a:xfrm>
          <a:prstGeom prst="rect">
            <a:avLst/>
          </a:prstGeom>
          <a:noFill/>
          <a:ln w="0">
            <a:noFill/>
          </a:ln>
        </p:spPr>
        <p:txBody>
          <a:bodyPr wrap="square" lIns="0" tIns="0" rIns="0" bIns="0" anchor="t"/>
          <a:lstStyle/>
          <a:p>
            <a:pPr algn="l">
              <a:lnSpc>
                <a:spcPct val="114000"/>
              </a:lnSpc>
              <a:spcBef>
                <a:spcPts val="0"/>
              </a:spcBef>
              <a:spcAft>
                <a:spcPts val="0"/>
              </a:spcAft>
              <a:buNone/>
              <a:defRPr sz="1650" b="0">
                <a:solidFill>
                  <a:srgbClr val="E8EDF5"/>
                </a:solidFill>
                <a:latin typeface="DejaVu Sans"/>
                <a:ea typeface="DejaVu Sans"/>
                <a:cs typeface="DejaVu Sans"/>
              </a:defRPr>
            </a:pPr>
            <a:r>
              <a:rPr lang="en-GB" sz="2500" b="0">
                <a:solidFill>
                  <a:srgbClr val="202A2B"/>
                </a:solidFill>
                <a:latin typeface="DejaVu Sans"/>
              </a:rPr>
              <a:t>Web, REST, CLI and MCP through identity and organization RBAC</a:t>
            </a:r>
          </a:p>
        </p:txBody>
      </p:sp>
      <p:sp>
        <p:nvSpPr>
          <p:cNvPr id="161" name="Rectangle 160">
            <a:extLst>
              <a:ext uri="{FF2B5EF4-FFF2-40B4-BE49-F238E27FC236}">
                <a16:creationId xmlns:a16="http://schemas.microsoft.com/office/drawing/2014/main" id="{3D65BA26-ED23-4DC0-B48C-2A645239CF43}"/>
              </a:ext>
            </a:extLst>
          </p:cNvPr>
          <p:cNvSpPr>
            <a:spLocks noGrp="1"/>
          </p:cNvSpPr>
          <p:nvPr/>
        </p:nvSpPr>
        <p:spPr>
          <a:xfrm>
            <a:off x="731520" y="3822191"/>
            <a:ext cx="2926080" cy="594360"/>
          </a:xfrm>
          <a:prstGeom prst="rect">
            <a:avLst/>
          </a:prstGeom>
          <a:noFill/>
          <a:ln w="0">
            <a:noFill/>
          </a:ln>
        </p:spPr>
        <p:txBody>
          <a:bodyPr wrap="square" lIns="0" tIns="0" rIns="0" bIns="0" anchor="t"/>
          <a:lstStyle/>
          <a:p>
            <a:pPr algn="l">
              <a:lnSpc>
                <a:spcPct val="114000"/>
              </a:lnSpc>
              <a:spcBef>
                <a:spcPts val="0"/>
              </a:spcBef>
              <a:spcAft>
                <a:spcPts val="0"/>
              </a:spcAft>
              <a:buNone/>
              <a:defRPr sz="1650" b="0">
                <a:solidFill>
                  <a:srgbClr val="E8EDF5"/>
                </a:solidFill>
                <a:latin typeface="DejaVu Sans"/>
                <a:ea typeface="DejaVu Sans"/>
                <a:cs typeface="DejaVu Sans"/>
              </a:defRPr>
            </a:pPr>
            <a:r>
              <a:rPr lang="en-US" sz="2600" b="1">
                <a:solidFill>
                  <a:srgbClr val="276C63"/>
                </a:solidFill>
                <a:latin typeface="DejaVu Sans"/>
              </a:rPr>
              <a:t>Orchestration</a:t>
            </a:r>
          </a:p>
        </p:txBody>
      </p:sp>
      <p:sp>
        <p:nvSpPr>
          <p:cNvPr id="168" name="Rectangle 167">
            <a:extLst>
              <a:ext uri="{FF2B5EF4-FFF2-40B4-BE49-F238E27FC236}">
                <a16:creationId xmlns:a16="http://schemas.microsoft.com/office/drawing/2014/main" id="{1EC57920-CA48-48EE-AF5E-E0A7D326F2C5}"/>
              </a:ext>
            </a:extLst>
          </p:cNvPr>
          <p:cNvSpPr>
            <a:spLocks noGrp="1"/>
          </p:cNvSpPr>
          <p:nvPr/>
        </p:nvSpPr>
        <p:spPr>
          <a:xfrm>
            <a:off x="4023360" y="3822191"/>
            <a:ext cx="10287000" cy="822960"/>
          </a:xfrm>
          <a:prstGeom prst="rect">
            <a:avLst/>
          </a:prstGeom>
          <a:noFill/>
          <a:ln w="0">
            <a:noFill/>
          </a:ln>
        </p:spPr>
        <p:txBody>
          <a:bodyPr wrap="square" lIns="0" tIns="0" rIns="0" bIns="0" anchor="t"/>
          <a:lstStyle/>
          <a:p>
            <a:pPr algn="l">
              <a:lnSpc>
                <a:spcPct val="114000"/>
              </a:lnSpc>
              <a:spcBef>
                <a:spcPts val="0"/>
              </a:spcBef>
              <a:spcAft>
                <a:spcPts val="0"/>
              </a:spcAft>
              <a:buNone/>
              <a:defRPr sz="1725" b="0">
                <a:solidFill>
                  <a:srgbClr val="E8EDF5"/>
                </a:solidFill>
                <a:latin typeface="DejaVu Sans"/>
                <a:ea typeface="DejaVu Sans"/>
                <a:cs typeface="DejaVu Sans"/>
              </a:defRPr>
            </a:pPr>
            <a:r>
              <a:rPr lang="en-GB" sz="2500" b="0">
                <a:solidFill>
                  <a:srgbClr val="202A2B"/>
                </a:solidFill>
                <a:latin typeface="DejaVu Sans"/>
              </a:rPr>
              <a:t>Workflow controller, agent registry, sessions and execution jobs</a:t>
            </a:r>
          </a:p>
        </p:txBody>
      </p:sp>
      <p:sp>
        <p:nvSpPr>
          <p:cNvPr id="172" name="Rectangle 171">
            <a:extLst>
              <a:ext uri="{FF2B5EF4-FFF2-40B4-BE49-F238E27FC236}">
                <a16:creationId xmlns:a16="http://schemas.microsoft.com/office/drawing/2014/main" id="{ADD348A1-52C9-4FF0-947E-5E7A5C277E6B}"/>
              </a:ext>
            </a:extLst>
          </p:cNvPr>
          <p:cNvSpPr>
            <a:spLocks noGrp="1"/>
          </p:cNvSpPr>
          <p:nvPr/>
        </p:nvSpPr>
        <p:spPr>
          <a:xfrm>
            <a:off x="731520" y="4855464"/>
            <a:ext cx="2926080" cy="594360"/>
          </a:xfrm>
          <a:prstGeom prst="rect">
            <a:avLst/>
          </a:prstGeom>
          <a:noFill/>
          <a:ln w="0">
            <a:noFill/>
          </a:ln>
        </p:spPr>
        <p:txBody>
          <a:bodyPr wrap="square" lIns="0" tIns="0" rIns="0" bIns="0" anchor="t"/>
          <a:lstStyle/>
          <a:p>
            <a:pPr algn="l">
              <a:lnSpc>
                <a:spcPct val="114000"/>
              </a:lnSpc>
              <a:spcBef>
                <a:spcPts val="0"/>
              </a:spcBef>
              <a:spcAft>
                <a:spcPts val="0"/>
              </a:spcAft>
              <a:buNone/>
              <a:defRPr sz="1650" b="0">
                <a:solidFill>
                  <a:srgbClr val="E8EDF5"/>
                </a:solidFill>
                <a:latin typeface="DejaVu Sans"/>
                <a:ea typeface="DejaVu Sans"/>
                <a:cs typeface="DejaVu Sans"/>
              </a:defRPr>
            </a:pPr>
            <a:r>
              <a:rPr lang="en-US" sz="2600" b="1">
                <a:solidFill>
                  <a:srgbClr val="276C63"/>
                </a:solidFill>
                <a:latin typeface="DejaVu Sans"/>
              </a:rPr>
              <a:t>Control</a:t>
            </a:r>
          </a:p>
        </p:txBody>
      </p:sp>
      <p:sp>
        <p:nvSpPr>
          <p:cNvPr id="175" name="Rectangle 174">
            <a:extLst>
              <a:ext uri="{FF2B5EF4-FFF2-40B4-BE49-F238E27FC236}">
                <a16:creationId xmlns:a16="http://schemas.microsoft.com/office/drawing/2014/main" id="{6E5354D6-4B53-410A-8D71-56E24FAB985F}"/>
              </a:ext>
            </a:extLst>
          </p:cNvPr>
          <p:cNvSpPr>
            <a:spLocks noGrp="1"/>
          </p:cNvSpPr>
          <p:nvPr/>
        </p:nvSpPr>
        <p:spPr>
          <a:xfrm>
            <a:off x="731520" y="5888736"/>
            <a:ext cx="2926080" cy="594360"/>
          </a:xfrm>
          <a:prstGeom prst="rect">
            <a:avLst/>
          </a:prstGeom>
          <a:noFill/>
          <a:ln w="13335">
            <a:noFill/>
            <a:prstDash val="solid"/>
          </a:ln>
        </p:spPr>
        <p:txBody>
          <a:bodyPr wrap="square" lIns="0" tIns="0" rIns="0" bIns="0"/>
          <a:lstStyle/>
          <a:p>
            <a:pPr algn="l">
              <a:lnSpc>
                <a:spcPct val="114000"/>
              </a:lnSpc>
              <a:spcBef>
                <a:spcPts val="0"/>
              </a:spcBef>
              <a:spcAft>
                <a:spcPts val="0"/>
              </a:spcAft>
              <a:buNone/>
            </a:pPr>
            <a:r>
              <a:rPr lang="en-US" sz="2600" b="1">
                <a:solidFill>
                  <a:srgbClr val="276C63"/>
                </a:solidFill>
                <a:latin typeface="DejaVu Sans"/>
              </a:rPr>
              <a:t>Evidence</a:t>
            </a:r>
            <a:endParaRPr lang="en-US"/>
          </a:p>
        </p:txBody>
      </p:sp>
      <p:sp>
        <p:nvSpPr>
          <p:cNvPr id="178" name="Rectangle 177">
            <a:extLst>
              <a:ext uri="{FF2B5EF4-FFF2-40B4-BE49-F238E27FC236}">
                <a16:creationId xmlns:a16="http://schemas.microsoft.com/office/drawing/2014/main" id="{CA8D5143-14CE-44B3-AC89-A13800DD3D22}"/>
              </a:ext>
            </a:extLst>
          </p:cNvPr>
          <p:cNvSpPr>
            <a:spLocks noGrp="1"/>
          </p:cNvSpPr>
          <p:nvPr/>
        </p:nvSpPr>
        <p:spPr>
          <a:xfrm>
            <a:off x="4023360" y="4855464"/>
            <a:ext cx="10287000" cy="822960"/>
          </a:xfrm>
          <a:prstGeom prst="rect">
            <a:avLst/>
          </a:prstGeom>
          <a:noFill/>
          <a:ln w="0">
            <a:noFill/>
          </a:ln>
        </p:spPr>
        <p:txBody>
          <a:bodyPr wrap="square" lIns="0" tIns="0" rIns="0" bIns="0" anchor="t"/>
          <a:lstStyle/>
          <a:p>
            <a:pPr algn="l">
              <a:lnSpc>
                <a:spcPct val="114000"/>
              </a:lnSpc>
              <a:spcBef>
                <a:spcPts val="0"/>
              </a:spcBef>
              <a:spcAft>
                <a:spcPts val="0"/>
              </a:spcAft>
              <a:buNone/>
              <a:defRPr sz="1650" b="0">
                <a:solidFill>
                  <a:srgbClr val="E8EDF5"/>
                </a:solidFill>
                <a:latin typeface="DejaVu Sans"/>
                <a:ea typeface="DejaVu Sans"/>
                <a:cs typeface="DejaVu Sans"/>
              </a:defRPr>
            </a:pPr>
            <a:r>
              <a:rPr lang="en-GB" sz="2500" b="0">
                <a:solidFill>
                  <a:srgbClr val="202A2B"/>
                </a:solidFill>
                <a:latin typeface="DejaVu Sans"/>
              </a:rPr>
              <a:t>Governance and policy engine with a separate approval service</a:t>
            </a:r>
          </a:p>
        </p:txBody>
      </p:sp>
      <p:sp>
        <p:nvSpPr>
          <p:cNvPr id="186" name="Rectangle 185">
            <a:extLst>
              <a:ext uri="{FF2B5EF4-FFF2-40B4-BE49-F238E27FC236}">
                <a16:creationId xmlns:a16="http://schemas.microsoft.com/office/drawing/2014/main" id="{6B42A1F2-0686-4911-8DDB-17BEB33178EF}"/>
              </a:ext>
            </a:extLst>
          </p:cNvPr>
          <p:cNvSpPr>
            <a:spLocks noGrp="1"/>
          </p:cNvSpPr>
          <p:nvPr/>
        </p:nvSpPr>
        <p:spPr>
          <a:xfrm>
            <a:off x="731520" y="7178040"/>
            <a:ext cx="13624560" cy="731520"/>
          </a:xfrm>
          <a:prstGeom prst="rect">
            <a:avLst/>
          </a:prstGeom>
          <a:noFill/>
          <a:ln w="0">
            <a:noFill/>
          </a:ln>
        </p:spPr>
        <p:txBody>
          <a:bodyPr wrap="square" lIns="0" tIns="0" rIns="0" bIns="0" anchor="t"/>
          <a:lstStyle/>
          <a:p>
            <a:pPr algn="l">
              <a:lnSpc>
                <a:spcPct val="114000"/>
              </a:lnSpc>
              <a:spcBef>
                <a:spcPts val="0"/>
              </a:spcBef>
              <a:spcAft>
                <a:spcPts val="0"/>
              </a:spcAft>
              <a:buNone/>
              <a:defRPr sz="1575" b="0">
                <a:solidFill>
                  <a:srgbClr val="E8EDF5"/>
                </a:solidFill>
                <a:latin typeface="DejaVu Sans"/>
                <a:ea typeface="DejaVu Sans"/>
                <a:cs typeface="DejaVu Sans"/>
              </a:defRPr>
            </a:pPr>
            <a:r>
              <a:rPr lang="en-GB" sz="2100" b="0">
                <a:solidFill>
                  <a:srgbClr val="596663"/>
                </a:solidFill>
                <a:latin typeface="DejaVu Sans"/>
              </a:rPr>
              <a:t>Optional adapters: model providers, Docker or Azure execution, and observability backends.</a:t>
            </a:r>
          </a:p>
        </p:txBody>
      </p:sp>
      <p:sp>
        <p:nvSpPr>
          <p:cNvPr id="197" name="Rectangle 196">
            <a:extLst>
              <a:ext uri="{FF2B5EF4-FFF2-40B4-BE49-F238E27FC236}">
                <a16:creationId xmlns:a16="http://schemas.microsoft.com/office/drawing/2014/main" id="{F4B5B8AC-633B-4EEA-9809-864DA7A4C0A7}"/>
              </a:ext>
            </a:extLst>
          </p:cNvPr>
          <p:cNvSpPr>
            <a:spLocks noGrp="1"/>
          </p:cNvSpPr>
          <p:nvPr/>
        </p:nvSpPr>
        <p:spPr>
          <a:xfrm>
            <a:off x="4023360" y="5888736"/>
            <a:ext cx="10287000" cy="822960"/>
          </a:xfrm>
          <a:prstGeom prst="rect">
            <a:avLst/>
          </a:prstGeom>
          <a:noFill/>
          <a:ln w="0">
            <a:noFill/>
          </a:ln>
        </p:spPr>
        <p:txBody>
          <a:bodyPr wrap="square" lIns="0" tIns="0" rIns="0" bIns="0" anchor="t"/>
          <a:lstStyle/>
          <a:p>
            <a:pPr algn="l">
              <a:lnSpc>
                <a:spcPct val="114000"/>
              </a:lnSpc>
              <a:spcBef>
                <a:spcPts val="0"/>
              </a:spcBef>
              <a:spcAft>
                <a:spcPts val="0"/>
              </a:spcAft>
              <a:buNone/>
              <a:defRPr sz="1425" b="0">
                <a:solidFill>
                  <a:srgbClr val="E8EDF5"/>
                </a:solidFill>
                <a:latin typeface="DejaVu Sans"/>
                <a:ea typeface="DejaVu Sans"/>
                <a:cs typeface="DejaVu Sans"/>
              </a:defRPr>
            </a:pPr>
            <a:r>
              <a:rPr lang="en-GB" sz="2500" b="0">
                <a:solidFill>
                  <a:srgbClr val="202A2B"/>
                </a:solidFill>
                <a:latin typeface="DejaVu Sans"/>
              </a:rPr>
              <a:t>Durable events, artifacts, approvals and evaluation records</a:t>
            </a:r>
          </a:p>
        </p:txBody>
      </p:sp>
    </p:spTree>
    <p:extLst>
      <p:ext uri="{BB962C8B-B14F-4D97-AF65-F5344CB8AC3E}">
        <p14:creationId xmlns:p14="http://schemas.microsoft.com/office/powerpoint/2010/main" val="496026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show="0">
  <p:cSld>
    <p:bg>
      <p:bgPr>
        <a:solidFill>
          <a:srgbClr val="F7F5EF"/>
        </a:solidFill>
        <a:effectLst/>
      </p:bgPr>
    </p:bg>
    <p:spTree>
      <p:nvGrpSpPr>
        <p:cNvPr id="1" name=""/>
        <p:cNvGrpSpPr/>
        <p:nvPr/>
      </p:nvGrpSpPr>
      <p:grpSpPr>
        <a:xfrm>
          <a:off x="0" y="0"/>
          <a:ext cx="0" cy="0"/>
          <a:chOff x="0" y="0"/>
          <a:chExt cx="0" cy="0"/>
        </a:xfrm>
      </p:grpSpPr>
      <p:pic>
        <p:nvPicPr>
          <p:cNvPr id="200" name="Picture 199" descr="Task evidence linked to a software release"/>
          <p:cNvPicPr>
            <a:picLocks noChangeAspect="1"/>
          </p:cNvPicPr>
          <p:nvPr/>
        </p:nvPicPr>
        <p:blipFill>
          <a:blip r:embed="rId3"/>
          <a:srcRect/>
          <a:stretch>
            <a:fillRect/>
          </a:stretch>
        </p:blipFill>
        <p:spPr>
          <a:xfrm>
            <a:off x="731520" y="2880360"/>
            <a:ext cx="5760720" cy="3730936"/>
          </a:xfrm>
          <a:prstGeom prst="rect">
            <a:avLst/>
          </a:prstGeom>
        </p:spPr>
      </p:pic>
      <p:sp>
        <p:nvSpPr>
          <p:cNvPr id="145" name="Rectangle 144">
            <a:extLst>
              <a:ext uri="{FF2B5EF4-FFF2-40B4-BE49-F238E27FC236}">
                <a16:creationId xmlns:a16="http://schemas.microsoft.com/office/drawing/2014/main" id="{A91F4DD4-FF56-4008-A2DD-409D992166DE}"/>
              </a:ext>
            </a:extLst>
          </p:cNvPr>
          <p:cNvSpPr>
            <a:spLocks noGrp="1"/>
          </p:cNvSpPr>
          <p:nvPr/>
        </p:nvSpPr>
        <p:spPr>
          <a:xfrm>
            <a:off x="731520" y="438912"/>
            <a:ext cx="11887200" cy="320040"/>
          </a:xfrm>
          <a:prstGeom prst="rect">
            <a:avLst/>
          </a:prstGeom>
          <a:noFill/>
          <a:ln w="0">
            <a:noFill/>
          </a:ln>
        </p:spPr>
        <p:txBody>
          <a:bodyPr wrap="square" lIns="0" tIns="0" rIns="0" bIns="0" anchor="t"/>
          <a:lstStyle/>
          <a:p>
            <a:pPr algn="l">
              <a:lnSpc>
                <a:spcPct val="114000"/>
              </a:lnSpc>
              <a:spcBef>
                <a:spcPts val="0"/>
              </a:spcBef>
              <a:spcAft>
                <a:spcPts val="0"/>
              </a:spcAft>
              <a:buNone/>
              <a:defRPr sz="1275" b="0">
                <a:solidFill>
                  <a:srgbClr val="5EEAD4"/>
                </a:solidFill>
                <a:latin typeface="DejaVu Sans Mono"/>
                <a:ea typeface="DejaVu Sans Mono"/>
                <a:cs typeface="DejaVu Sans Mono"/>
              </a:defRPr>
            </a:pPr>
            <a:r>
              <a:rPr lang="en-US" sz="1300" b="1">
                <a:solidFill>
                  <a:srgbClr val="276C63"/>
                </a:solidFill>
                <a:latin typeface="DejaVu Sans"/>
              </a:rPr>
              <a:t>AUTODEV  /  TECHNICAL BACKUP</a:t>
            </a:r>
          </a:p>
        </p:txBody>
      </p:sp>
      <p:sp>
        <p:nvSpPr>
          <p:cNvPr id="146" name="Rectangle 145">
            <a:extLst>
              <a:ext uri="{FF2B5EF4-FFF2-40B4-BE49-F238E27FC236}">
                <a16:creationId xmlns:a16="http://schemas.microsoft.com/office/drawing/2014/main" id="{48C46CBA-F898-4AB5-97A9-BB43F20C0FF2}"/>
              </a:ext>
            </a:extLst>
          </p:cNvPr>
          <p:cNvSpPr>
            <a:spLocks noGrp="1"/>
          </p:cNvSpPr>
          <p:nvPr/>
        </p:nvSpPr>
        <p:spPr>
          <a:xfrm>
            <a:off x="731520" y="1051560"/>
            <a:ext cx="13716000" cy="1143000"/>
          </a:xfrm>
          <a:prstGeom prst="rect">
            <a:avLst/>
          </a:prstGeom>
          <a:noFill/>
          <a:ln w="0">
            <a:noFill/>
          </a:ln>
        </p:spPr>
        <p:txBody>
          <a:bodyPr wrap="square" lIns="0" tIns="0" rIns="0" bIns="0" anchor="t"/>
          <a:lstStyle/>
          <a:p>
            <a:pPr algn="l">
              <a:lnSpc>
                <a:spcPct val="114000"/>
              </a:lnSpc>
              <a:spcBef>
                <a:spcPts val="0"/>
              </a:spcBef>
              <a:spcAft>
                <a:spcPts val="0"/>
              </a:spcAft>
              <a:buNone/>
              <a:defRPr sz="3600" b="1">
                <a:solidFill>
                  <a:srgbClr val="E8EDF5"/>
                </a:solidFill>
                <a:latin typeface="DejaVu Sans"/>
                <a:ea typeface="DejaVu Sans"/>
                <a:cs typeface="DejaVu Sans"/>
              </a:defRPr>
            </a:pPr>
            <a:r>
              <a:rPr lang="en-GB" sz="3600" b="1">
                <a:solidFill>
                  <a:srgbClr val="202A2B"/>
                </a:solidFill>
                <a:latin typeface="DejaVu Sans"/>
              </a:rPr>
              <a:t>Evidence for each task and each agent release</a:t>
            </a:r>
          </a:p>
        </p:txBody>
      </p:sp>
      <p:sp>
        <p:nvSpPr>
          <p:cNvPr id="149" name="Rectangle 148">
            <a:extLst>
              <a:ext uri="{FF2B5EF4-FFF2-40B4-BE49-F238E27FC236}">
                <a16:creationId xmlns:a16="http://schemas.microsoft.com/office/drawing/2014/main" id="{BF593631-7B60-4385-B2B9-70EA8C9D8765}"/>
              </a:ext>
            </a:extLst>
          </p:cNvPr>
          <p:cNvSpPr>
            <a:spLocks noGrp="1"/>
          </p:cNvSpPr>
          <p:nvPr/>
        </p:nvSpPr>
        <p:spPr>
          <a:xfrm>
            <a:off x="731520" y="7936992"/>
            <a:ext cx="12893040" cy="365760"/>
          </a:xfrm>
          <a:prstGeom prst="rect">
            <a:avLst/>
          </a:prstGeom>
          <a:noFill/>
          <a:ln w="0">
            <a:noFill/>
          </a:ln>
        </p:spPr>
        <p:txBody>
          <a:bodyPr wrap="square" lIns="0" tIns="0" rIns="0" bIns="0" anchor="t"/>
          <a:lstStyle/>
          <a:p>
            <a:pPr algn="l">
              <a:lnSpc>
                <a:spcPct val="114000"/>
              </a:lnSpc>
              <a:spcBef>
                <a:spcPts val="0"/>
              </a:spcBef>
              <a:spcAft>
                <a:spcPts val="0"/>
              </a:spcAft>
              <a:buNone/>
              <a:defRPr sz="1050" b="0">
                <a:solidFill>
                  <a:srgbClr val="8491A7"/>
                </a:solidFill>
                <a:latin typeface="DejaVu Sans Mono"/>
                <a:ea typeface="DejaVu Sans Mono"/>
                <a:cs typeface="DejaVu Sans Mono"/>
              </a:defRPr>
            </a:pPr>
            <a:r>
              <a:rPr lang="en-GB" sz="1300" b="0">
                <a:solidFill>
                  <a:srgbClr val="596663"/>
                </a:solidFill>
                <a:latin typeface="DejaVu Sans"/>
              </a:rPr>
              <a:t>Described baseline is provisional. External evaluators are optional.</a:t>
            </a:r>
          </a:p>
        </p:txBody>
      </p:sp>
      <p:sp>
        <p:nvSpPr>
          <p:cNvPr id="150" name="Rectangle 149">
            <a:extLst>
              <a:ext uri="{FF2B5EF4-FFF2-40B4-BE49-F238E27FC236}">
                <a16:creationId xmlns:a16="http://schemas.microsoft.com/office/drawing/2014/main" id="{0AA7448E-9E3E-4D96-91EA-79A65E0E6F84}"/>
              </a:ext>
            </a:extLst>
          </p:cNvPr>
          <p:cNvSpPr>
            <a:spLocks noGrp="1"/>
          </p:cNvSpPr>
          <p:nvPr/>
        </p:nvSpPr>
        <p:spPr>
          <a:xfrm>
            <a:off x="13807440" y="7936992"/>
            <a:ext cx="640080" cy="292608"/>
          </a:xfrm>
          <a:prstGeom prst="rect">
            <a:avLst/>
          </a:prstGeom>
          <a:noFill/>
          <a:ln w="0">
            <a:noFill/>
          </a:ln>
        </p:spPr>
        <p:txBody>
          <a:bodyPr wrap="square" lIns="0" tIns="0" rIns="0" bIns="0" anchor="t"/>
          <a:lstStyle/>
          <a:p>
            <a:pPr algn="l">
              <a:lnSpc>
                <a:spcPct val="114000"/>
              </a:lnSpc>
              <a:spcBef>
                <a:spcPts val="0"/>
              </a:spcBef>
              <a:spcAft>
                <a:spcPts val="0"/>
              </a:spcAft>
              <a:buNone/>
              <a:defRPr sz="1200" b="0">
                <a:solidFill>
                  <a:srgbClr val="8491A7"/>
                </a:solidFill>
                <a:latin typeface="DejaVu Sans Mono"/>
                <a:ea typeface="DejaVu Sans Mono"/>
                <a:cs typeface="DejaVu Sans Mono"/>
              </a:defRPr>
            </a:pPr>
            <a:r>
              <a:rPr lang="en-NL" sz="1200" b="0">
                <a:solidFill>
                  <a:srgbClr val="596663"/>
                </a:solidFill>
                <a:latin typeface="DejaVu Sans"/>
              </a:rPr>
              <a:t>08</a:t>
            </a:r>
          </a:p>
        </p:txBody>
      </p:sp>
      <p:sp>
        <p:nvSpPr>
          <p:cNvPr id="151" name="Rectangle 150">
            <a:extLst>
              <a:ext uri="{FF2B5EF4-FFF2-40B4-BE49-F238E27FC236}">
                <a16:creationId xmlns:a16="http://schemas.microsoft.com/office/drawing/2014/main" id="{B0AFFD94-E301-4E3F-9B9B-47A4D7B60204}"/>
              </a:ext>
            </a:extLst>
          </p:cNvPr>
          <p:cNvSpPr>
            <a:spLocks noGrp="1"/>
          </p:cNvSpPr>
          <p:nvPr/>
        </p:nvSpPr>
        <p:spPr>
          <a:xfrm>
            <a:off x="7360920" y="2606040"/>
            <a:ext cx="6903720" cy="365760"/>
          </a:xfrm>
          <a:prstGeom prst="rect">
            <a:avLst/>
          </a:prstGeom>
          <a:noFill/>
          <a:ln w="0">
            <a:noFill/>
          </a:ln>
        </p:spPr>
        <p:txBody>
          <a:bodyPr wrap="square" lIns="0" tIns="0" rIns="0" bIns="0" anchor="t"/>
          <a:lstStyle/>
          <a:p>
            <a:pPr algn="l">
              <a:lnSpc>
                <a:spcPct val="114000"/>
              </a:lnSpc>
              <a:spcBef>
                <a:spcPts val="0"/>
              </a:spcBef>
              <a:spcAft>
                <a:spcPts val="0"/>
              </a:spcAft>
              <a:buNone/>
              <a:defRPr sz="1500" b="0">
                <a:solidFill>
                  <a:srgbClr val="9AA7B9"/>
                </a:solidFill>
                <a:latin typeface="DejaVu Sans Mono"/>
                <a:ea typeface="DejaVu Sans Mono"/>
                <a:cs typeface="DejaVu Sans Mono"/>
              </a:defRPr>
            </a:pPr>
            <a:r>
              <a:rPr lang="en-US" sz="1700" b="1">
                <a:solidFill>
                  <a:srgbClr val="276C63"/>
                </a:solidFill>
                <a:latin typeface="DejaVu Sans"/>
              </a:rPr>
              <a:t>TASK RECORD</a:t>
            </a:r>
          </a:p>
        </p:txBody>
      </p:sp>
      <p:sp>
        <p:nvSpPr>
          <p:cNvPr id="153" name="Rectangle 152">
            <a:extLst>
              <a:ext uri="{FF2B5EF4-FFF2-40B4-BE49-F238E27FC236}">
                <a16:creationId xmlns:a16="http://schemas.microsoft.com/office/drawing/2014/main" id="{38DD6A8D-D034-4FA6-8671-39C94063B4C0}"/>
              </a:ext>
            </a:extLst>
          </p:cNvPr>
          <p:cNvSpPr>
            <a:spLocks noGrp="1"/>
          </p:cNvSpPr>
          <p:nvPr/>
        </p:nvSpPr>
        <p:spPr>
          <a:xfrm>
            <a:off x="7360920" y="3108960"/>
            <a:ext cx="6903720" cy="1783080"/>
          </a:xfrm>
          <a:prstGeom prst="rect">
            <a:avLst/>
          </a:prstGeom>
          <a:noFill/>
          <a:ln w="0">
            <a:noFill/>
          </a:ln>
        </p:spPr>
        <p:txBody>
          <a:bodyPr wrap="square" lIns="0" tIns="0" rIns="0" bIns="0" anchor="t"/>
          <a:lstStyle/>
          <a:p>
            <a:pPr algn="l">
              <a:lnSpc>
                <a:spcPct val="114000"/>
              </a:lnSpc>
              <a:spcBef>
                <a:spcPts val="0"/>
              </a:spcBef>
              <a:spcAft>
                <a:spcPts val="0"/>
              </a:spcAft>
              <a:buNone/>
              <a:defRPr sz="1650" b="0">
                <a:solidFill>
                  <a:srgbClr val="E8EDF5"/>
                </a:solidFill>
                <a:latin typeface="DejaVu Sans"/>
                <a:ea typeface="DejaVu Sans"/>
                <a:cs typeface="DejaVu Sans"/>
              </a:defRPr>
            </a:pPr>
            <a:r>
              <a:rPr lang="en-GB" sz="2200" b="0">
                <a:solidFill>
                  <a:srgbClr val="202A2B"/>
                </a:solidFill>
                <a:latin typeface="DejaVu Sans"/>
              </a:rPr>
              <a:t>Identity and policy version</a:t>
            </a:r>
          </a:p>
          <a:p>
            <a:pPr>
              <a:lnSpc>
                <a:spcPct val="114000"/>
              </a:lnSpc>
            </a:pPr>
            <a:r>
              <a:rPr lang="en-GB" sz="2200" b="0">
                <a:solidFill>
                  <a:srgbClr val="202A2B"/>
                </a:solidFill>
                <a:latin typeface="DejaVu Sans"/>
              </a:rPr>
              <a:t>Tool events, diff, tests and scans</a:t>
            </a:r>
          </a:p>
          <a:p>
            <a:pPr>
              <a:lnSpc>
                <a:spcPct val="114000"/>
              </a:lnSpc>
            </a:pPr>
            <a:r>
              <a:rPr lang="en-GB" sz="2200" b="0">
                <a:solidFill>
                  <a:srgbClr val="202A2B"/>
                </a:solidFill>
                <a:latin typeface="DejaVu Sans"/>
              </a:rPr>
              <a:t>Human decisions and approvals</a:t>
            </a:r>
          </a:p>
        </p:txBody>
      </p:sp>
      <p:sp>
        <p:nvSpPr>
          <p:cNvPr id="173" name="Rectangle 172">
            <a:extLst>
              <a:ext uri="{FF2B5EF4-FFF2-40B4-BE49-F238E27FC236}">
                <a16:creationId xmlns:a16="http://schemas.microsoft.com/office/drawing/2014/main" id="{30120FD3-8C7E-4853-B5A1-868E6F0E9E7E}"/>
              </a:ext>
            </a:extLst>
          </p:cNvPr>
          <p:cNvSpPr>
            <a:spLocks noGrp="1"/>
          </p:cNvSpPr>
          <p:nvPr/>
        </p:nvSpPr>
        <p:spPr>
          <a:xfrm>
            <a:off x="7360920" y="5212080"/>
            <a:ext cx="6903720" cy="365760"/>
          </a:xfrm>
          <a:prstGeom prst="rect">
            <a:avLst/>
          </a:prstGeom>
          <a:noFill/>
          <a:ln w="0">
            <a:noFill/>
          </a:ln>
        </p:spPr>
        <p:txBody>
          <a:bodyPr wrap="square" lIns="0" tIns="0" rIns="0" bIns="0" anchor="t"/>
          <a:lstStyle/>
          <a:p>
            <a:pPr algn="l">
              <a:lnSpc>
                <a:spcPct val="114000"/>
              </a:lnSpc>
              <a:spcBef>
                <a:spcPts val="0"/>
              </a:spcBef>
              <a:spcAft>
                <a:spcPts val="0"/>
              </a:spcAft>
              <a:buNone/>
              <a:defRPr sz="1500" b="0">
                <a:solidFill>
                  <a:srgbClr val="5EEAD4"/>
                </a:solidFill>
                <a:latin typeface="DejaVu Sans Mono"/>
                <a:ea typeface="DejaVu Sans Mono"/>
                <a:cs typeface="DejaVu Sans Mono"/>
              </a:defRPr>
            </a:pPr>
            <a:r>
              <a:rPr lang="en-US" sz="1700" b="1">
                <a:solidFill>
                  <a:srgbClr val="276C63"/>
                </a:solidFill>
                <a:latin typeface="DejaVu Sans"/>
              </a:rPr>
              <a:t>AGENT RELEASE GATE</a:t>
            </a:r>
          </a:p>
        </p:txBody>
      </p:sp>
      <p:sp>
        <p:nvSpPr>
          <p:cNvPr id="175" name="Rectangle 174">
            <a:extLst>
              <a:ext uri="{FF2B5EF4-FFF2-40B4-BE49-F238E27FC236}">
                <a16:creationId xmlns:a16="http://schemas.microsoft.com/office/drawing/2014/main" id="{F2A83D90-F725-4837-8213-09EE60D7B50E}"/>
              </a:ext>
            </a:extLst>
          </p:cNvPr>
          <p:cNvSpPr>
            <a:spLocks noGrp="1"/>
          </p:cNvSpPr>
          <p:nvPr/>
        </p:nvSpPr>
        <p:spPr>
          <a:xfrm>
            <a:off x="7360920" y="5696712"/>
            <a:ext cx="6903720" cy="1554480"/>
          </a:xfrm>
          <a:prstGeom prst="rect">
            <a:avLst/>
          </a:prstGeom>
          <a:noFill/>
          <a:ln w="0">
            <a:noFill/>
          </a:ln>
        </p:spPr>
        <p:txBody>
          <a:bodyPr wrap="square" lIns="0" tIns="0" rIns="0" bIns="0" anchor="t"/>
          <a:lstStyle/>
          <a:p>
            <a:pPr algn="l">
              <a:lnSpc>
                <a:spcPct val="114000"/>
              </a:lnSpc>
              <a:spcBef>
                <a:spcPts val="0"/>
              </a:spcBef>
              <a:spcAft>
                <a:spcPts val="0"/>
              </a:spcAft>
              <a:buNone/>
              <a:defRPr sz="1650" b="0">
                <a:solidFill>
                  <a:srgbClr val="E8EDF5"/>
                </a:solidFill>
                <a:latin typeface="DejaVu Sans"/>
                <a:ea typeface="DejaVu Sans"/>
                <a:cs typeface="DejaVu Sans"/>
              </a:defRPr>
            </a:pPr>
            <a:r>
              <a:rPr lang="en-GB" sz="2200" b="0">
                <a:solidFill>
                  <a:srgbClr val="202A2B"/>
                </a:solidFill>
                <a:latin typeface="DejaVu Sans"/>
              </a:rPr>
              <a:t>Human-reviewed scenarios</a:t>
            </a:r>
          </a:p>
          <a:p>
            <a:pPr>
              <a:lnSpc>
                <a:spcPct val="114000"/>
              </a:lnSpc>
            </a:pPr>
            <a:r>
              <a:rPr lang="en-GB" sz="2200" b="0">
                <a:solidFill>
                  <a:srgbClr val="202A2B"/>
                </a:solidFill>
                <a:latin typeface="DejaVu Sans"/>
              </a:rPr>
              <a:t>Frozen version and dataset hash</a:t>
            </a:r>
          </a:p>
          <a:p>
            <a:pPr>
              <a:lnSpc>
                <a:spcPct val="114000"/>
              </a:lnSpc>
            </a:pPr>
            <a:r>
              <a:rPr lang="en-GB" sz="2200" b="0">
                <a:solidFill>
                  <a:srgbClr val="202A2B"/>
                </a:solidFill>
                <a:latin typeface="DejaVu Sans"/>
              </a:rPr>
              <a:t>Isolated evaluation and regression comparison</a:t>
            </a:r>
          </a:p>
        </p:txBody>
      </p:sp>
      <p:sp>
        <p:nvSpPr>
          <p:cNvPr id="199" name="Rectangle 198">
            <a:extLst>
              <a:ext uri="{FF2B5EF4-FFF2-40B4-BE49-F238E27FC236}">
                <a16:creationId xmlns:a16="http://schemas.microsoft.com/office/drawing/2014/main" id="{A4357C5F-9201-4D73-8E9F-D196D9FBF758}"/>
              </a:ext>
            </a:extLst>
          </p:cNvPr>
          <p:cNvSpPr>
            <a:spLocks noGrp="1"/>
          </p:cNvSpPr>
          <p:nvPr/>
        </p:nvSpPr>
        <p:spPr>
          <a:xfrm>
            <a:off x="731520" y="7406640"/>
            <a:ext cx="13533120" cy="548640"/>
          </a:xfrm>
          <a:prstGeom prst="rect">
            <a:avLst/>
          </a:prstGeom>
          <a:noFill/>
          <a:ln w="0">
            <a:noFill/>
          </a:ln>
        </p:spPr>
        <p:txBody>
          <a:bodyPr wrap="square" lIns="0" tIns="0" rIns="0" bIns="0" anchor="t"/>
          <a:lstStyle/>
          <a:p>
            <a:pPr algn="l">
              <a:lnSpc>
                <a:spcPct val="114000"/>
              </a:lnSpc>
              <a:spcBef>
                <a:spcPts val="0"/>
              </a:spcBef>
              <a:spcAft>
                <a:spcPts val="0"/>
              </a:spcAft>
              <a:buNone/>
              <a:defRPr sz="1650" b="0">
                <a:solidFill>
                  <a:srgbClr val="8491A7"/>
                </a:solidFill>
                <a:latin typeface="DejaVu Sans"/>
                <a:ea typeface="DejaVu Sans"/>
                <a:cs typeface="DejaVu Sans"/>
              </a:defRPr>
            </a:pPr>
            <a:r>
              <a:rPr lang="en-GB" sz="2200" b="0">
                <a:solidFill>
                  <a:srgbClr val="276C63"/>
                </a:solidFill>
                <a:latin typeface="DejaVu Sans"/>
              </a:rPr>
              <a:t>Evaluation runs stay separate from product tasks and sessions.</a:t>
            </a:r>
          </a:p>
        </p:txBody>
      </p:sp>
    </p:spTree>
    <p:extLst>
      <p:ext uri="{BB962C8B-B14F-4D97-AF65-F5344CB8AC3E}">
        <p14:creationId xmlns:p14="http://schemas.microsoft.com/office/powerpoint/2010/main" val="4436962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3075</Words>
  <Application>Microsoft Office PowerPoint</Application>
  <PresentationFormat>Custom</PresentationFormat>
  <Paragraphs>211</Paragraphs>
  <Slides>8</Slides>
  <Notes>8</Notes>
  <HiddenSlides>2</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Ömer Faruk Demir</dc:creator>
  <cp:lastModifiedBy>Ömer Faruk Demir</cp:lastModifiedBy>
  <cp:revision>2</cp:revision>
  <dcterms:created xsi:type="dcterms:W3CDTF">2026-10-08T20:55:51Z</dcterms:created>
  <dcterms:modified xsi:type="dcterms:W3CDTF">2026-10-09T09:47:17Z</dcterms:modified>
</cp:coreProperties>
</file>